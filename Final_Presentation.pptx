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The Seasons Bold" charset="1" panose="00000000000000000000"/>
      <p:regular r:id="rId25"/>
    </p:embeddedFont>
    <p:embeddedFont>
      <p:font typeface="Poppins" charset="1" panose="00000500000000000000"/>
      <p:regular r:id="rId26"/>
    </p:embeddedFont>
    <p:embeddedFont>
      <p:font typeface="Poppins Bold" charset="1" panose="00000800000000000000"/>
      <p:regular r:id="rId27"/>
    </p:embeddedFont>
    <p:embeddedFont>
      <p:font typeface="Thutiya" charset="1" panose="00000000000000000000"/>
      <p:regular r:id="rId28"/>
    </p:embeddedFont>
    <p:embeddedFont>
      <p:font typeface="Lora Bold" charset="1" panose="00000800000000000000"/>
      <p:regular r:id="rId29"/>
    </p:embeddedFont>
    <p:embeddedFont>
      <p:font typeface="Poppins Italics" charset="1" panose="00000500000000000000"/>
      <p:regular r:id="rId30"/>
    </p:embeddedFont>
    <p:embeddedFont>
      <p:font typeface="Open Sans" charset="1" panose="020B0606030504020204"/>
      <p:regular r:id="rId31"/>
    </p:embeddedFont>
    <p:embeddedFont>
      <p:font typeface="Belleza" charset="1" panose="02000503050000020003"/>
      <p:regular r:id="rId32"/>
    </p:embeddedFont>
    <p:embeddedFont>
      <p:font typeface="Open Sans Bold" charset="1" panose="020B0806030504020204"/>
      <p:regular r:id="rId33"/>
    </p:embeddedFont>
    <p:embeddedFont>
      <p:font typeface="Thutiya Semi-Bold" charset="1" panose="00000000000000000000"/>
      <p:regular r:id="rId34"/>
    </p:embeddedFont>
    <p:embeddedFont>
      <p:font typeface="Canva Sans Bold" charset="1" panose="020B0803030501040103"/>
      <p:regular r:id="rId35"/>
    </p:embeddedFont>
    <p:embeddedFont>
      <p:font typeface="Lora" charset="1" panose="00000500000000000000"/>
      <p:regular r:id="rId36"/>
    </p:embeddedFont>
    <p:embeddedFont>
      <p:font typeface="Canva Sans" charset="1" panose="020B0503030501040103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VAHYt0GtPkY.mp4" Type="http://schemas.openxmlformats.org/officeDocument/2006/relationships/video"/><Relationship Id="rId4" Target="../media/VAHYt0GtPkY.mp4" Type="http://schemas.microsoft.com/office/2007/relationships/media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46963" y="8841055"/>
            <a:ext cx="15541037" cy="704503"/>
            <a:chOff x="0" y="0"/>
            <a:chExt cx="4093113" cy="185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93113" cy="185548"/>
            </a:xfrm>
            <a:custGeom>
              <a:avLst/>
              <a:gdLst/>
              <a:ahLst/>
              <a:cxnLst/>
              <a:rect r="r" b="b" t="t" l="l"/>
              <a:pathLst>
                <a:path h="185548" w="4093113">
                  <a:moveTo>
                    <a:pt x="0" y="0"/>
                  </a:moveTo>
                  <a:lnTo>
                    <a:pt x="4093113" y="0"/>
                  </a:lnTo>
                  <a:lnTo>
                    <a:pt x="4093113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93113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746963" y="3510641"/>
            <a:ext cx="11559582" cy="2020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28"/>
              </a:lnSpc>
            </a:pPr>
            <a:r>
              <a:rPr lang="en-US" sz="11591" b="true">
                <a:solidFill>
                  <a:srgbClr val="36473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ReadAlert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8841055"/>
            <a:ext cx="1822452" cy="704503"/>
            <a:chOff x="0" y="0"/>
            <a:chExt cx="479987" cy="1855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9987" cy="185548"/>
            </a:xfrm>
            <a:custGeom>
              <a:avLst/>
              <a:gdLst/>
              <a:ahLst/>
              <a:cxnLst/>
              <a:rect r="r" b="b" t="t" l="l"/>
              <a:pathLst>
                <a:path h="185548" w="479987">
                  <a:moveTo>
                    <a:pt x="0" y="0"/>
                  </a:moveTo>
                  <a:lnTo>
                    <a:pt x="479987" y="0"/>
                  </a:lnTo>
                  <a:lnTo>
                    <a:pt x="479987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79987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2165809"/>
            <a:ext cx="8702452" cy="68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IFN736 - Industry Project (Phase 2)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58636" y="400506"/>
            <a:ext cx="6482347" cy="990700"/>
            <a:chOff x="0" y="0"/>
            <a:chExt cx="1707285" cy="2609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7285" cy="260925"/>
            </a:xfrm>
            <a:custGeom>
              <a:avLst/>
              <a:gdLst/>
              <a:ahLst/>
              <a:cxnLst/>
              <a:rect r="r" b="b" t="t" l="l"/>
              <a:pathLst>
                <a:path h="260925" w="1707285">
                  <a:moveTo>
                    <a:pt x="0" y="0"/>
                  </a:moveTo>
                  <a:lnTo>
                    <a:pt x="1707285" y="0"/>
                  </a:lnTo>
                  <a:lnTo>
                    <a:pt x="1707285" y="260925"/>
                  </a:lnTo>
                  <a:lnTo>
                    <a:pt x="0" y="260925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07285" cy="299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02480" y="499105"/>
            <a:ext cx="6681179" cy="580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9"/>
              </a:lnSpc>
            </a:pPr>
            <a:r>
              <a:rPr lang="en-US" sz="32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Penta Intelligence | Group 18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23254" y="5446282"/>
            <a:ext cx="11441492" cy="68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An Integrated Reading Management Prototype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46963" y="8841055"/>
            <a:ext cx="15541037" cy="704503"/>
            <a:chOff x="0" y="0"/>
            <a:chExt cx="4093113" cy="185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93113" cy="185548"/>
            </a:xfrm>
            <a:custGeom>
              <a:avLst/>
              <a:gdLst/>
              <a:ahLst/>
              <a:cxnLst/>
              <a:rect r="r" b="b" t="t" l="l"/>
              <a:pathLst>
                <a:path h="185548" w="4093113">
                  <a:moveTo>
                    <a:pt x="0" y="0"/>
                  </a:moveTo>
                  <a:lnTo>
                    <a:pt x="4093113" y="0"/>
                  </a:lnTo>
                  <a:lnTo>
                    <a:pt x="4093113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93113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8841055"/>
            <a:ext cx="1822452" cy="704503"/>
            <a:chOff x="0" y="0"/>
            <a:chExt cx="479987" cy="1855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9987" cy="185548"/>
            </a:xfrm>
            <a:custGeom>
              <a:avLst/>
              <a:gdLst/>
              <a:ahLst/>
              <a:cxnLst/>
              <a:rect r="r" b="b" t="t" l="l"/>
              <a:pathLst>
                <a:path h="185548" w="479987">
                  <a:moveTo>
                    <a:pt x="0" y="0"/>
                  </a:moveTo>
                  <a:lnTo>
                    <a:pt x="479987" y="0"/>
                  </a:lnTo>
                  <a:lnTo>
                    <a:pt x="479987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79987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8636" y="400506"/>
            <a:ext cx="6200511" cy="755837"/>
            <a:chOff x="0" y="0"/>
            <a:chExt cx="1633056" cy="1990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33057" cy="199068"/>
            </a:xfrm>
            <a:custGeom>
              <a:avLst/>
              <a:gdLst/>
              <a:ahLst/>
              <a:cxnLst/>
              <a:rect r="r" b="b" t="t" l="l"/>
              <a:pathLst>
                <a:path h="199068" w="1633057">
                  <a:moveTo>
                    <a:pt x="0" y="0"/>
                  </a:moveTo>
                  <a:lnTo>
                    <a:pt x="1633057" y="0"/>
                  </a:lnTo>
                  <a:lnTo>
                    <a:pt x="1633057" y="199068"/>
                  </a:lnTo>
                  <a:lnTo>
                    <a:pt x="0" y="19906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33056" cy="237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0" y="1223617"/>
            <a:ext cx="394256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Meet the Team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665" y="448479"/>
            <a:ext cx="6681179" cy="580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9"/>
              </a:lnSpc>
            </a:pPr>
            <a:r>
              <a:rPr lang="en-US" sz="32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Penta Intelligence | Group 18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75595" y="1918941"/>
            <a:ext cx="8038317" cy="2112854"/>
            <a:chOff x="0" y="0"/>
            <a:chExt cx="2117088" cy="5564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17088" cy="556472"/>
            </a:xfrm>
            <a:custGeom>
              <a:avLst/>
              <a:gdLst/>
              <a:ahLst/>
              <a:cxnLst/>
              <a:rect r="r" b="b" t="t" l="l"/>
              <a:pathLst>
                <a:path h="556472" w="2117088">
                  <a:moveTo>
                    <a:pt x="25041" y="0"/>
                  </a:moveTo>
                  <a:lnTo>
                    <a:pt x="2092046" y="0"/>
                  </a:lnTo>
                  <a:cubicBezTo>
                    <a:pt x="2105876" y="0"/>
                    <a:pt x="2117088" y="11211"/>
                    <a:pt x="2117088" y="25041"/>
                  </a:cubicBezTo>
                  <a:lnTo>
                    <a:pt x="2117088" y="531430"/>
                  </a:lnTo>
                  <a:cubicBezTo>
                    <a:pt x="2117088" y="545260"/>
                    <a:pt x="2105876" y="556472"/>
                    <a:pt x="2092046" y="556472"/>
                  </a:cubicBezTo>
                  <a:lnTo>
                    <a:pt x="25041" y="556472"/>
                  </a:lnTo>
                  <a:cubicBezTo>
                    <a:pt x="11211" y="556472"/>
                    <a:pt x="0" y="545260"/>
                    <a:pt x="0" y="531430"/>
                  </a:cubicBezTo>
                  <a:lnTo>
                    <a:pt x="0" y="25041"/>
                  </a:lnTo>
                  <a:cubicBezTo>
                    <a:pt x="0" y="11211"/>
                    <a:pt x="11211" y="0"/>
                    <a:pt x="25041" y="0"/>
                  </a:cubicBezTo>
                  <a:close/>
                </a:path>
              </a:pathLst>
            </a:custGeom>
            <a:solidFill>
              <a:srgbClr val="CEDEC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117088" cy="59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17881" y="1985616"/>
            <a:ext cx="2325398" cy="53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6"/>
              </a:lnSpc>
            </a:pPr>
            <a:r>
              <a:rPr lang="en-US" sz="3204">
                <a:solidFill>
                  <a:srgbClr val="364735"/>
                </a:solidFill>
                <a:latin typeface="Thutiya"/>
                <a:ea typeface="Thutiya"/>
                <a:cs typeface="Thutiya"/>
                <a:sym typeface="Thutiya"/>
              </a:rPr>
              <a:t>Julia lezzi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75595" y="4130633"/>
            <a:ext cx="8038317" cy="2112854"/>
            <a:chOff x="0" y="0"/>
            <a:chExt cx="2117088" cy="5564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17088" cy="556472"/>
            </a:xfrm>
            <a:custGeom>
              <a:avLst/>
              <a:gdLst/>
              <a:ahLst/>
              <a:cxnLst/>
              <a:rect r="r" b="b" t="t" l="l"/>
              <a:pathLst>
                <a:path h="556472" w="2117088">
                  <a:moveTo>
                    <a:pt x="25041" y="0"/>
                  </a:moveTo>
                  <a:lnTo>
                    <a:pt x="2092046" y="0"/>
                  </a:lnTo>
                  <a:cubicBezTo>
                    <a:pt x="2105876" y="0"/>
                    <a:pt x="2117088" y="11211"/>
                    <a:pt x="2117088" y="25041"/>
                  </a:cubicBezTo>
                  <a:lnTo>
                    <a:pt x="2117088" y="531430"/>
                  </a:lnTo>
                  <a:cubicBezTo>
                    <a:pt x="2117088" y="545260"/>
                    <a:pt x="2105876" y="556472"/>
                    <a:pt x="2092046" y="556472"/>
                  </a:cubicBezTo>
                  <a:lnTo>
                    <a:pt x="25041" y="556472"/>
                  </a:lnTo>
                  <a:cubicBezTo>
                    <a:pt x="11211" y="556472"/>
                    <a:pt x="0" y="545260"/>
                    <a:pt x="0" y="531430"/>
                  </a:cubicBezTo>
                  <a:lnTo>
                    <a:pt x="0" y="25041"/>
                  </a:lnTo>
                  <a:cubicBezTo>
                    <a:pt x="0" y="11211"/>
                    <a:pt x="11211" y="0"/>
                    <a:pt x="25041" y="0"/>
                  </a:cubicBezTo>
                  <a:close/>
                </a:path>
              </a:pathLst>
            </a:custGeom>
            <a:solidFill>
              <a:srgbClr val="CEDEC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17088" cy="59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80090" y="4130633"/>
            <a:ext cx="8038317" cy="2112854"/>
            <a:chOff x="0" y="0"/>
            <a:chExt cx="2117088" cy="5564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17088" cy="556472"/>
            </a:xfrm>
            <a:custGeom>
              <a:avLst/>
              <a:gdLst/>
              <a:ahLst/>
              <a:cxnLst/>
              <a:rect r="r" b="b" t="t" l="l"/>
              <a:pathLst>
                <a:path h="556472" w="2117088">
                  <a:moveTo>
                    <a:pt x="25041" y="0"/>
                  </a:moveTo>
                  <a:lnTo>
                    <a:pt x="2092046" y="0"/>
                  </a:lnTo>
                  <a:cubicBezTo>
                    <a:pt x="2105876" y="0"/>
                    <a:pt x="2117088" y="11211"/>
                    <a:pt x="2117088" y="25041"/>
                  </a:cubicBezTo>
                  <a:lnTo>
                    <a:pt x="2117088" y="531430"/>
                  </a:lnTo>
                  <a:cubicBezTo>
                    <a:pt x="2117088" y="545260"/>
                    <a:pt x="2105876" y="556472"/>
                    <a:pt x="2092046" y="556472"/>
                  </a:cubicBezTo>
                  <a:lnTo>
                    <a:pt x="25041" y="556472"/>
                  </a:lnTo>
                  <a:cubicBezTo>
                    <a:pt x="11211" y="556472"/>
                    <a:pt x="0" y="545260"/>
                    <a:pt x="0" y="531430"/>
                  </a:cubicBezTo>
                  <a:lnTo>
                    <a:pt x="0" y="25041"/>
                  </a:lnTo>
                  <a:cubicBezTo>
                    <a:pt x="0" y="11211"/>
                    <a:pt x="11211" y="0"/>
                    <a:pt x="25041" y="0"/>
                  </a:cubicBezTo>
                  <a:close/>
                </a:path>
              </a:pathLst>
            </a:custGeom>
            <a:solidFill>
              <a:srgbClr val="CEDEC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17088" cy="59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519505" y="4291893"/>
            <a:ext cx="2967357" cy="53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6"/>
              </a:lnSpc>
            </a:pPr>
            <a:r>
              <a:rPr lang="en-US" sz="3204">
                <a:solidFill>
                  <a:srgbClr val="364735"/>
                </a:solidFill>
                <a:latin typeface="Thutiya"/>
                <a:ea typeface="Thutiya"/>
                <a:cs typeface="Thutiya"/>
                <a:sym typeface="Thutiya"/>
              </a:rPr>
              <a:t>Amisha Patel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260932" y="6485844"/>
            <a:ext cx="8038317" cy="2112854"/>
            <a:chOff x="0" y="0"/>
            <a:chExt cx="2117088" cy="5564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17088" cy="556472"/>
            </a:xfrm>
            <a:custGeom>
              <a:avLst/>
              <a:gdLst/>
              <a:ahLst/>
              <a:cxnLst/>
              <a:rect r="r" b="b" t="t" l="l"/>
              <a:pathLst>
                <a:path h="556472" w="2117088">
                  <a:moveTo>
                    <a:pt x="25041" y="0"/>
                  </a:moveTo>
                  <a:lnTo>
                    <a:pt x="2092046" y="0"/>
                  </a:lnTo>
                  <a:cubicBezTo>
                    <a:pt x="2105876" y="0"/>
                    <a:pt x="2117088" y="11211"/>
                    <a:pt x="2117088" y="25041"/>
                  </a:cubicBezTo>
                  <a:lnTo>
                    <a:pt x="2117088" y="531430"/>
                  </a:lnTo>
                  <a:cubicBezTo>
                    <a:pt x="2117088" y="545260"/>
                    <a:pt x="2105876" y="556472"/>
                    <a:pt x="2092046" y="556472"/>
                  </a:cubicBezTo>
                  <a:lnTo>
                    <a:pt x="25041" y="556472"/>
                  </a:lnTo>
                  <a:cubicBezTo>
                    <a:pt x="11211" y="556472"/>
                    <a:pt x="0" y="545260"/>
                    <a:pt x="0" y="531430"/>
                  </a:cubicBezTo>
                  <a:lnTo>
                    <a:pt x="0" y="25041"/>
                  </a:lnTo>
                  <a:cubicBezTo>
                    <a:pt x="0" y="11211"/>
                    <a:pt x="11211" y="0"/>
                    <a:pt x="25041" y="0"/>
                  </a:cubicBezTo>
                  <a:close/>
                </a:path>
              </a:pathLst>
            </a:custGeom>
            <a:solidFill>
              <a:srgbClr val="CEDEC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17088" cy="59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643347" y="6710212"/>
            <a:ext cx="5347302" cy="53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6"/>
              </a:lnSpc>
            </a:pPr>
            <a:r>
              <a:rPr lang="en-US" sz="3204">
                <a:solidFill>
                  <a:srgbClr val="364735"/>
                </a:solidFill>
                <a:latin typeface="Thutiya"/>
                <a:ea typeface="Thutiya"/>
                <a:cs typeface="Thutiya"/>
                <a:sym typeface="Thutiya"/>
              </a:rPr>
              <a:t>Saarah Fariheen Sayeed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80090" y="1918941"/>
            <a:ext cx="8038317" cy="2112854"/>
            <a:chOff x="0" y="0"/>
            <a:chExt cx="2117088" cy="55647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17088" cy="556472"/>
            </a:xfrm>
            <a:custGeom>
              <a:avLst/>
              <a:gdLst/>
              <a:ahLst/>
              <a:cxnLst/>
              <a:rect r="r" b="b" t="t" l="l"/>
              <a:pathLst>
                <a:path h="556472" w="2117088">
                  <a:moveTo>
                    <a:pt x="25041" y="0"/>
                  </a:moveTo>
                  <a:lnTo>
                    <a:pt x="2092046" y="0"/>
                  </a:lnTo>
                  <a:cubicBezTo>
                    <a:pt x="2105876" y="0"/>
                    <a:pt x="2117088" y="11211"/>
                    <a:pt x="2117088" y="25041"/>
                  </a:cubicBezTo>
                  <a:lnTo>
                    <a:pt x="2117088" y="531430"/>
                  </a:lnTo>
                  <a:cubicBezTo>
                    <a:pt x="2117088" y="545260"/>
                    <a:pt x="2105876" y="556472"/>
                    <a:pt x="2092046" y="556472"/>
                  </a:cubicBezTo>
                  <a:lnTo>
                    <a:pt x="25041" y="556472"/>
                  </a:lnTo>
                  <a:cubicBezTo>
                    <a:pt x="11211" y="556472"/>
                    <a:pt x="0" y="545260"/>
                    <a:pt x="0" y="531430"/>
                  </a:cubicBezTo>
                  <a:lnTo>
                    <a:pt x="0" y="25041"/>
                  </a:lnTo>
                  <a:cubicBezTo>
                    <a:pt x="0" y="11211"/>
                    <a:pt x="11211" y="0"/>
                    <a:pt x="25041" y="0"/>
                  </a:cubicBezTo>
                  <a:close/>
                </a:path>
              </a:pathLst>
            </a:custGeom>
            <a:solidFill>
              <a:srgbClr val="CEDECD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117088" cy="59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519505" y="1978350"/>
            <a:ext cx="3531028" cy="53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6"/>
              </a:lnSpc>
            </a:pPr>
            <a:r>
              <a:rPr lang="en-US" sz="3204">
                <a:solidFill>
                  <a:srgbClr val="364735"/>
                </a:solidFill>
                <a:latin typeface="Thutiya"/>
                <a:ea typeface="Thutiya"/>
                <a:cs typeface="Thutiya"/>
                <a:sym typeface="Thutiya"/>
              </a:rPr>
              <a:t>Sude Karadeniz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17881" y="4291893"/>
            <a:ext cx="6521617" cy="53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6"/>
              </a:lnSpc>
            </a:pPr>
            <a:r>
              <a:rPr lang="en-US" sz="3204">
                <a:solidFill>
                  <a:srgbClr val="364735"/>
                </a:solidFill>
                <a:latin typeface="Thutiya"/>
                <a:ea typeface="Thutiya"/>
                <a:cs typeface="Thutiya"/>
                <a:sym typeface="Thutiya"/>
              </a:rPr>
              <a:t>Ghazal Abdolah Zadeh Javazm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17881" y="2466198"/>
            <a:ext cx="7427169" cy="30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6"/>
              </a:lnSpc>
            </a:pPr>
            <a:r>
              <a:rPr lang="en-US" sz="170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PROJECT MANAGEMENT · BOOK CATALOGUE · FRONTEND INTEGRATION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19505" y="4772475"/>
            <a:ext cx="5500860" cy="30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6"/>
              </a:lnSpc>
            </a:pPr>
            <a:r>
              <a:rPr lang="en-US" sz="170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READER PROFILE · DOCUMENTATION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7881" y="4772475"/>
            <a:ext cx="6187481" cy="30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6"/>
              </a:lnSpc>
            </a:pPr>
            <a:r>
              <a:rPr lang="en-US" sz="170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READING RECORD · FRONTEND DESIGN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643347" y="7190793"/>
            <a:ext cx="2776449" cy="30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6"/>
              </a:lnSpc>
            </a:pPr>
            <a:r>
              <a:rPr lang="en-US" sz="170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BOOK LOOKUP / SCAN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519505" y="2466213"/>
            <a:ext cx="6221135" cy="30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6"/>
              </a:lnSpc>
            </a:pPr>
            <a:r>
              <a:rPr lang="en-US" sz="170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TEAM LEAD · AUTHOR CATALOGUE · BACKEND INTEGRATION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17881" y="2902543"/>
            <a:ext cx="6845721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B4529"/>
                </a:solidFill>
                <a:latin typeface="Thutiya"/>
                <a:ea typeface="Thutiya"/>
                <a:cs typeface="Thutiya"/>
                <a:sym typeface="Thutiya"/>
              </a:rPr>
              <a:t>Co</a:t>
            </a:r>
            <a:r>
              <a:rPr lang="en-US" sz="1899">
                <a:solidFill>
                  <a:srgbClr val="2B4529"/>
                </a:solidFill>
                <a:latin typeface="Thutiya"/>
                <a:ea typeface="Thutiya"/>
                <a:cs typeface="Thutiya"/>
                <a:sym typeface="Thutiya"/>
              </a:rPr>
              <a:t>ordinating project delivery, reviewing team contributions, book management functionality and frontend integration.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519505" y="2864443"/>
            <a:ext cx="7515323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B4529"/>
                </a:solidFill>
                <a:latin typeface="Thutiya"/>
                <a:ea typeface="Thutiya"/>
                <a:cs typeface="Thutiya"/>
                <a:sym typeface="Thutiya"/>
              </a:rPr>
              <a:t>Leadi</a:t>
            </a:r>
            <a:r>
              <a:rPr lang="en-US" sz="1899">
                <a:solidFill>
                  <a:srgbClr val="2B4529"/>
                </a:solidFill>
                <a:latin typeface="Thutiya"/>
                <a:ea typeface="Thutiya"/>
                <a:cs typeface="Thutiya"/>
                <a:sym typeface="Thutiya"/>
              </a:rPr>
              <a:t>ng technical development, reviewing team contributions, resolving integration issues and coordinating backend implementation.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17881" y="5319730"/>
            <a:ext cx="7601681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364735"/>
                </a:solidFill>
                <a:latin typeface="Thutiya"/>
                <a:ea typeface="Thutiya"/>
                <a:cs typeface="Thutiya"/>
                <a:sym typeface="Thutiya"/>
              </a:rPr>
              <a:t>Developing </a:t>
            </a:r>
            <a:r>
              <a:rPr lang="en-US" sz="1899">
                <a:solidFill>
                  <a:srgbClr val="364735"/>
                </a:solidFill>
                <a:latin typeface="Thutiya"/>
                <a:ea typeface="Thutiya"/>
                <a:cs typeface="Thutiya"/>
                <a:sym typeface="Thutiya"/>
              </a:rPr>
              <a:t>reading record functionality and consistent styling across modules.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519505" y="5319730"/>
            <a:ext cx="662913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364735"/>
                </a:solidFill>
                <a:latin typeface="Thutiya"/>
                <a:ea typeface="Thutiya"/>
                <a:cs typeface="Thutiya"/>
                <a:sym typeface="Thutiya"/>
              </a:rPr>
              <a:t>Develop</a:t>
            </a:r>
            <a:r>
              <a:rPr lang="en-US" sz="1899">
                <a:solidFill>
                  <a:srgbClr val="364735"/>
                </a:solidFill>
                <a:latin typeface="Thutiya"/>
                <a:ea typeface="Thutiya"/>
                <a:cs typeface="Thutiya"/>
                <a:sym typeface="Thutiya"/>
              </a:rPr>
              <a:t>ing reader profile functionality and supporting project documentation.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439345" y="7738049"/>
            <a:ext cx="6190728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364735"/>
                </a:solidFill>
                <a:latin typeface="Thutiya"/>
                <a:ea typeface="Thutiya"/>
                <a:cs typeface="Thutiya"/>
                <a:sym typeface="Thutiya"/>
              </a:rPr>
              <a:t>Mak</a:t>
            </a:r>
            <a:r>
              <a:rPr lang="en-US" sz="1899">
                <a:solidFill>
                  <a:srgbClr val="364735"/>
                </a:solidFill>
                <a:latin typeface="Thutiya"/>
                <a:ea typeface="Thutiya"/>
                <a:cs typeface="Thutiya"/>
                <a:sym typeface="Thutiya"/>
              </a:rPr>
              <a:t>ing book discovery and tracking more convenient.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636" y="514985"/>
            <a:ext cx="5566516" cy="704503"/>
            <a:chOff x="0" y="0"/>
            <a:chExt cx="1466078" cy="185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6078" cy="185548"/>
            </a:xfrm>
            <a:custGeom>
              <a:avLst/>
              <a:gdLst/>
              <a:ahLst/>
              <a:cxnLst/>
              <a:rect r="r" b="b" t="t" l="l"/>
              <a:pathLst>
                <a:path h="185548" w="1466078">
                  <a:moveTo>
                    <a:pt x="0" y="0"/>
                  </a:moveTo>
                  <a:lnTo>
                    <a:pt x="1466078" y="0"/>
                  </a:lnTo>
                  <a:lnTo>
                    <a:pt x="1466078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6078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46963" y="8841055"/>
            <a:ext cx="15541037" cy="704503"/>
            <a:chOff x="0" y="0"/>
            <a:chExt cx="4093113" cy="1855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93113" cy="185548"/>
            </a:xfrm>
            <a:custGeom>
              <a:avLst/>
              <a:gdLst/>
              <a:ahLst/>
              <a:cxnLst/>
              <a:rect r="r" b="b" t="t" l="l"/>
              <a:pathLst>
                <a:path h="185548" w="4093113">
                  <a:moveTo>
                    <a:pt x="0" y="0"/>
                  </a:moveTo>
                  <a:lnTo>
                    <a:pt x="4093113" y="0"/>
                  </a:lnTo>
                  <a:lnTo>
                    <a:pt x="4093113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93113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8841055"/>
            <a:ext cx="1822452" cy="704503"/>
            <a:chOff x="0" y="0"/>
            <a:chExt cx="479987" cy="1855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9987" cy="185548"/>
            </a:xfrm>
            <a:custGeom>
              <a:avLst/>
              <a:gdLst/>
              <a:ahLst/>
              <a:cxnLst/>
              <a:rect r="r" b="b" t="t" l="l"/>
              <a:pathLst>
                <a:path h="185548" w="479987">
                  <a:moveTo>
                    <a:pt x="0" y="0"/>
                  </a:moveTo>
                  <a:lnTo>
                    <a:pt x="479987" y="0"/>
                  </a:lnTo>
                  <a:lnTo>
                    <a:pt x="479987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79987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56799" y="3804527"/>
            <a:ext cx="8374300" cy="4808039"/>
            <a:chOff x="0" y="0"/>
            <a:chExt cx="2205577" cy="12663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05577" cy="1266315"/>
            </a:xfrm>
            <a:custGeom>
              <a:avLst/>
              <a:gdLst/>
              <a:ahLst/>
              <a:cxnLst/>
              <a:rect r="r" b="b" t="t" l="l"/>
              <a:pathLst>
                <a:path h="1266315" w="2205577">
                  <a:moveTo>
                    <a:pt x="47149" y="0"/>
                  </a:moveTo>
                  <a:lnTo>
                    <a:pt x="2158428" y="0"/>
                  </a:lnTo>
                  <a:cubicBezTo>
                    <a:pt x="2170933" y="0"/>
                    <a:pt x="2182925" y="4967"/>
                    <a:pt x="2191767" y="13810"/>
                  </a:cubicBezTo>
                  <a:cubicBezTo>
                    <a:pt x="2200609" y="22652"/>
                    <a:pt x="2205577" y="34644"/>
                    <a:pt x="2205577" y="47149"/>
                  </a:cubicBezTo>
                  <a:lnTo>
                    <a:pt x="2205577" y="1219166"/>
                  </a:lnTo>
                  <a:cubicBezTo>
                    <a:pt x="2205577" y="1231671"/>
                    <a:pt x="2200609" y="1243663"/>
                    <a:pt x="2191767" y="1252505"/>
                  </a:cubicBezTo>
                  <a:cubicBezTo>
                    <a:pt x="2182925" y="1261347"/>
                    <a:pt x="2170933" y="1266315"/>
                    <a:pt x="2158428" y="1266315"/>
                  </a:cubicBezTo>
                  <a:lnTo>
                    <a:pt x="47149" y="1266315"/>
                  </a:lnTo>
                  <a:cubicBezTo>
                    <a:pt x="34644" y="1266315"/>
                    <a:pt x="22652" y="1261347"/>
                    <a:pt x="13810" y="1252505"/>
                  </a:cubicBezTo>
                  <a:cubicBezTo>
                    <a:pt x="4967" y="1243663"/>
                    <a:pt x="0" y="1231671"/>
                    <a:pt x="0" y="1219166"/>
                  </a:cubicBezTo>
                  <a:lnTo>
                    <a:pt x="0" y="47149"/>
                  </a:lnTo>
                  <a:cubicBezTo>
                    <a:pt x="0" y="34644"/>
                    <a:pt x="4967" y="22652"/>
                    <a:pt x="13810" y="13810"/>
                  </a:cubicBezTo>
                  <a:cubicBezTo>
                    <a:pt x="22652" y="4967"/>
                    <a:pt x="34644" y="0"/>
                    <a:pt x="47149" y="0"/>
                  </a:cubicBezTo>
                  <a:close/>
                </a:path>
              </a:pathLst>
            </a:custGeom>
            <a:solidFill>
              <a:srgbClr val="9BB29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05577" cy="13044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98074" y="4191866"/>
            <a:ext cx="626304" cy="447808"/>
          </a:xfrm>
          <a:custGeom>
            <a:avLst/>
            <a:gdLst/>
            <a:ahLst/>
            <a:cxnLst/>
            <a:rect r="r" b="b" t="t" l="l"/>
            <a:pathLst>
              <a:path h="447808" w="626304">
                <a:moveTo>
                  <a:pt x="0" y="0"/>
                </a:moveTo>
                <a:lnTo>
                  <a:pt x="626304" y="0"/>
                </a:lnTo>
                <a:lnTo>
                  <a:pt x="626304" y="447808"/>
                </a:lnTo>
                <a:lnTo>
                  <a:pt x="0" y="447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144000" y="3804527"/>
            <a:ext cx="8482992" cy="4808039"/>
            <a:chOff x="0" y="0"/>
            <a:chExt cx="2234204" cy="126631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4204" cy="1266315"/>
            </a:xfrm>
            <a:custGeom>
              <a:avLst/>
              <a:gdLst/>
              <a:ahLst/>
              <a:cxnLst/>
              <a:rect r="r" b="b" t="t" l="l"/>
              <a:pathLst>
                <a:path h="1266315" w="2234204">
                  <a:moveTo>
                    <a:pt x="46545" y="0"/>
                  </a:moveTo>
                  <a:lnTo>
                    <a:pt x="2187659" y="0"/>
                  </a:lnTo>
                  <a:cubicBezTo>
                    <a:pt x="2200003" y="0"/>
                    <a:pt x="2211842" y="4904"/>
                    <a:pt x="2220571" y="13633"/>
                  </a:cubicBezTo>
                  <a:cubicBezTo>
                    <a:pt x="2229300" y="22361"/>
                    <a:pt x="2234204" y="34200"/>
                    <a:pt x="2234204" y="46545"/>
                  </a:cubicBezTo>
                  <a:lnTo>
                    <a:pt x="2234204" y="1219770"/>
                  </a:lnTo>
                  <a:cubicBezTo>
                    <a:pt x="2234204" y="1232115"/>
                    <a:pt x="2229300" y="1243953"/>
                    <a:pt x="2220571" y="1252682"/>
                  </a:cubicBezTo>
                  <a:cubicBezTo>
                    <a:pt x="2211842" y="1261411"/>
                    <a:pt x="2200003" y="1266315"/>
                    <a:pt x="2187659" y="1266315"/>
                  </a:cubicBezTo>
                  <a:lnTo>
                    <a:pt x="46545" y="1266315"/>
                  </a:lnTo>
                  <a:cubicBezTo>
                    <a:pt x="34200" y="1266315"/>
                    <a:pt x="22361" y="1261411"/>
                    <a:pt x="13633" y="1252682"/>
                  </a:cubicBezTo>
                  <a:cubicBezTo>
                    <a:pt x="4904" y="1243953"/>
                    <a:pt x="0" y="1232115"/>
                    <a:pt x="0" y="1219770"/>
                  </a:cubicBezTo>
                  <a:lnTo>
                    <a:pt x="0" y="46545"/>
                  </a:lnTo>
                  <a:cubicBezTo>
                    <a:pt x="0" y="34200"/>
                    <a:pt x="4904" y="22361"/>
                    <a:pt x="13633" y="13633"/>
                  </a:cubicBezTo>
                  <a:cubicBezTo>
                    <a:pt x="22361" y="4904"/>
                    <a:pt x="34200" y="0"/>
                    <a:pt x="46545" y="0"/>
                  </a:cubicBezTo>
                  <a:close/>
                </a:path>
              </a:pathLst>
            </a:custGeom>
            <a:solidFill>
              <a:srgbClr val="9BB29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234204" cy="13044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9609516" y="4101195"/>
            <a:ext cx="593149" cy="596129"/>
          </a:xfrm>
          <a:custGeom>
            <a:avLst/>
            <a:gdLst/>
            <a:ahLst/>
            <a:cxnLst/>
            <a:rect r="r" b="b" t="t" l="l"/>
            <a:pathLst>
              <a:path h="596129" w="593149">
                <a:moveTo>
                  <a:pt x="0" y="0"/>
                </a:moveTo>
                <a:lnTo>
                  <a:pt x="593149" y="0"/>
                </a:lnTo>
                <a:lnTo>
                  <a:pt x="593149" y="596130"/>
                </a:lnTo>
                <a:lnTo>
                  <a:pt x="0" y="5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0" y="1466536"/>
            <a:ext cx="5139298" cy="863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4929" b="true">
                <a:solidFill>
                  <a:srgbClr val="36473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About ReadAlert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4185" y="523384"/>
            <a:ext cx="4380875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56799" y="2549000"/>
            <a:ext cx="15890008" cy="960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2"/>
              </a:lnSpc>
            </a:pPr>
            <a:r>
              <a:rPr lang="en-US" sz="269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ReadAlert is a reading management Module developed as a part of the HuddleUp platform, in collaboration with our industry partner, Wayne Wood from the Cyber Security Centre.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632167" y="372110"/>
            <a:ext cx="1254265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34900" y="4092171"/>
            <a:ext cx="6760318" cy="547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2"/>
              </a:lnSpc>
            </a:pPr>
            <a:r>
              <a:rPr lang="en-US" sz="3194" b="true">
                <a:solidFill>
                  <a:srgbClr val="364735"/>
                </a:solidFill>
                <a:latin typeface="Lora Bold"/>
                <a:ea typeface="Lora Bold"/>
                <a:cs typeface="Lora Bold"/>
                <a:sym typeface="Lora Bold"/>
              </a:rPr>
              <a:t>Purpose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34185" y="4849224"/>
            <a:ext cx="7017974" cy="1703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6"/>
              </a:lnSpc>
            </a:pPr>
            <a:r>
              <a:rPr lang="en-US" sz="320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Manage readers, books, authors and individual reading activity within a connected application.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98982" y="4125191"/>
            <a:ext cx="6760318" cy="547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2"/>
              </a:lnSpc>
            </a:pPr>
            <a:r>
              <a:rPr lang="en-US" sz="3194" b="true">
                <a:solidFill>
                  <a:srgbClr val="364735"/>
                </a:solidFill>
                <a:latin typeface="Lora Bold"/>
                <a:ea typeface="Lora Bold"/>
                <a:cs typeface="Lora Bold"/>
                <a:sym typeface="Lora Bold"/>
              </a:rPr>
              <a:t>Project Outcome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76967" y="4858749"/>
            <a:ext cx="8017057" cy="370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1"/>
              </a:lnSpc>
            </a:pPr>
            <a:r>
              <a:rPr lang="en-US" sz="299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A ReadAlert proof-of-concept (POC) comprising five microservice modules, with frontend interfaces, backend APIs and SQL Server database integration, developed for integration with the Huddle Up platform.</a:t>
            </a:r>
          </a:p>
          <a:p>
            <a:pPr algn="just">
              <a:lnSpc>
                <a:spcPts val="419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636" y="514985"/>
            <a:ext cx="9618070" cy="704503"/>
            <a:chOff x="0" y="0"/>
            <a:chExt cx="2533154" cy="185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33154" cy="185548"/>
            </a:xfrm>
            <a:custGeom>
              <a:avLst/>
              <a:gdLst/>
              <a:ahLst/>
              <a:cxnLst/>
              <a:rect r="r" b="b" t="t" l="l"/>
              <a:pathLst>
                <a:path h="185548" w="2533154">
                  <a:moveTo>
                    <a:pt x="0" y="0"/>
                  </a:moveTo>
                  <a:lnTo>
                    <a:pt x="2533154" y="0"/>
                  </a:lnTo>
                  <a:lnTo>
                    <a:pt x="2533154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33154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41974" y="9045173"/>
            <a:ext cx="15541037" cy="704503"/>
            <a:chOff x="0" y="0"/>
            <a:chExt cx="4093113" cy="1855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93113" cy="185548"/>
            </a:xfrm>
            <a:custGeom>
              <a:avLst/>
              <a:gdLst/>
              <a:ahLst/>
              <a:cxnLst/>
              <a:rect r="r" b="b" t="t" l="l"/>
              <a:pathLst>
                <a:path h="185548" w="4093113">
                  <a:moveTo>
                    <a:pt x="0" y="0"/>
                  </a:moveTo>
                  <a:lnTo>
                    <a:pt x="4093113" y="0"/>
                  </a:lnTo>
                  <a:lnTo>
                    <a:pt x="4093113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93113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45173"/>
            <a:ext cx="1822452" cy="704503"/>
            <a:chOff x="0" y="0"/>
            <a:chExt cx="479987" cy="1855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9987" cy="185548"/>
            </a:xfrm>
            <a:custGeom>
              <a:avLst/>
              <a:gdLst/>
              <a:ahLst/>
              <a:cxnLst/>
              <a:rect r="r" b="b" t="t" l="l"/>
              <a:pathLst>
                <a:path h="185548" w="479987">
                  <a:moveTo>
                    <a:pt x="0" y="0"/>
                  </a:moveTo>
                  <a:lnTo>
                    <a:pt x="479987" y="0"/>
                  </a:lnTo>
                  <a:lnTo>
                    <a:pt x="479987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79987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9402" y="1711549"/>
            <a:ext cx="8523846" cy="6892523"/>
            <a:chOff x="0" y="0"/>
            <a:chExt cx="2244964" cy="18153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4964" cy="1815315"/>
            </a:xfrm>
            <a:custGeom>
              <a:avLst/>
              <a:gdLst/>
              <a:ahLst/>
              <a:cxnLst/>
              <a:rect r="r" b="b" t="t" l="l"/>
              <a:pathLst>
                <a:path h="1815315" w="2244964">
                  <a:moveTo>
                    <a:pt x="17257" y="0"/>
                  </a:moveTo>
                  <a:lnTo>
                    <a:pt x="2227707" y="0"/>
                  </a:lnTo>
                  <a:cubicBezTo>
                    <a:pt x="2232284" y="0"/>
                    <a:pt x="2236673" y="1818"/>
                    <a:pt x="2239909" y="5054"/>
                  </a:cubicBezTo>
                  <a:cubicBezTo>
                    <a:pt x="2243146" y="8291"/>
                    <a:pt x="2244964" y="12680"/>
                    <a:pt x="2244964" y="17257"/>
                  </a:cubicBezTo>
                  <a:lnTo>
                    <a:pt x="2244964" y="1798057"/>
                  </a:lnTo>
                  <a:cubicBezTo>
                    <a:pt x="2244964" y="1807588"/>
                    <a:pt x="2237237" y="1815315"/>
                    <a:pt x="2227707" y="1815315"/>
                  </a:cubicBezTo>
                  <a:lnTo>
                    <a:pt x="17257" y="1815315"/>
                  </a:lnTo>
                  <a:cubicBezTo>
                    <a:pt x="7726" y="1815315"/>
                    <a:pt x="0" y="1807588"/>
                    <a:pt x="0" y="1798057"/>
                  </a:cubicBezTo>
                  <a:lnTo>
                    <a:pt x="0" y="17257"/>
                  </a:lnTo>
                  <a:cubicBezTo>
                    <a:pt x="0" y="7726"/>
                    <a:pt x="7726" y="0"/>
                    <a:pt x="17257" y="0"/>
                  </a:cubicBezTo>
                  <a:close/>
                </a:path>
              </a:pathLst>
            </a:custGeom>
            <a:solidFill>
              <a:srgbClr val="819C7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44964" cy="18534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40384" y="1713230"/>
            <a:ext cx="8523846" cy="6892523"/>
            <a:chOff x="0" y="0"/>
            <a:chExt cx="2244964" cy="18153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4964" cy="1815315"/>
            </a:xfrm>
            <a:custGeom>
              <a:avLst/>
              <a:gdLst/>
              <a:ahLst/>
              <a:cxnLst/>
              <a:rect r="r" b="b" t="t" l="l"/>
              <a:pathLst>
                <a:path h="1815315" w="2244964">
                  <a:moveTo>
                    <a:pt x="17257" y="0"/>
                  </a:moveTo>
                  <a:lnTo>
                    <a:pt x="2227707" y="0"/>
                  </a:lnTo>
                  <a:cubicBezTo>
                    <a:pt x="2232284" y="0"/>
                    <a:pt x="2236673" y="1818"/>
                    <a:pt x="2239909" y="5054"/>
                  </a:cubicBezTo>
                  <a:cubicBezTo>
                    <a:pt x="2243146" y="8291"/>
                    <a:pt x="2244964" y="12680"/>
                    <a:pt x="2244964" y="17257"/>
                  </a:cubicBezTo>
                  <a:lnTo>
                    <a:pt x="2244964" y="1798057"/>
                  </a:lnTo>
                  <a:cubicBezTo>
                    <a:pt x="2244964" y="1807588"/>
                    <a:pt x="2237237" y="1815315"/>
                    <a:pt x="2227707" y="1815315"/>
                  </a:cubicBezTo>
                  <a:lnTo>
                    <a:pt x="17257" y="1815315"/>
                  </a:lnTo>
                  <a:cubicBezTo>
                    <a:pt x="7726" y="1815315"/>
                    <a:pt x="0" y="1807588"/>
                    <a:pt x="0" y="1798057"/>
                  </a:cubicBezTo>
                  <a:lnTo>
                    <a:pt x="0" y="17257"/>
                  </a:lnTo>
                  <a:cubicBezTo>
                    <a:pt x="0" y="7726"/>
                    <a:pt x="7726" y="0"/>
                    <a:pt x="17257" y="0"/>
                  </a:cubicBezTo>
                  <a:close/>
                </a:path>
              </a:pathLst>
            </a:custGeom>
            <a:solidFill>
              <a:srgbClr val="819C7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44964" cy="18534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911226" y="2031948"/>
            <a:ext cx="657741" cy="657741"/>
          </a:xfrm>
          <a:custGeom>
            <a:avLst/>
            <a:gdLst/>
            <a:ahLst/>
            <a:cxnLst/>
            <a:rect r="r" b="b" t="t" l="l"/>
            <a:pathLst>
              <a:path h="657741" w="657741">
                <a:moveTo>
                  <a:pt x="0" y="0"/>
                </a:moveTo>
                <a:lnTo>
                  <a:pt x="657741" y="0"/>
                </a:lnTo>
                <a:lnTo>
                  <a:pt x="657741" y="657741"/>
                </a:lnTo>
                <a:lnTo>
                  <a:pt x="0" y="657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078357" y="2009413"/>
            <a:ext cx="534135" cy="702810"/>
          </a:xfrm>
          <a:custGeom>
            <a:avLst/>
            <a:gdLst/>
            <a:ahLst/>
            <a:cxnLst/>
            <a:rect r="r" b="b" t="t" l="l"/>
            <a:pathLst>
              <a:path h="702810" w="534135">
                <a:moveTo>
                  <a:pt x="0" y="0"/>
                </a:moveTo>
                <a:lnTo>
                  <a:pt x="534135" y="0"/>
                </a:lnTo>
                <a:lnTo>
                  <a:pt x="534135" y="702810"/>
                </a:lnTo>
                <a:lnTo>
                  <a:pt x="0" y="702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822452" y="2046810"/>
            <a:ext cx="3981582" cy="105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364735"/>
                </a:solidFill>
                <a:latin typeface="Lora Bold"/>
                <a:ea typeface="Lora Bold"/>
                <a:cs typeface="Lora Bold"/>
                <a:sym typeface="Lora Bold"/>
              </a:rPr>
              <a:t>Project Objectives</a:t>
            </a:r>
          </a:p>
          <a:p>
            <a:pPr algn="l">
              <a:lnSpc>
                <a:spcPts val="377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200633" y="523384"/>
            <a:ext cx="9559434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Objectives and Client Requirements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632167" y="372110"/>
            <a:ext cx="1254265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16793" y="2046810"/>
            <a:ext cx="5715374" cy="570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364735"/>
                </a:solidFill>
                <a:latin typeface="Lora Bold"/>
                <a:ea typeface="Lora Bold"/>
                <a:cs typeface="Lora Bold"/>
                <a:sym typeface="Lora Bold"/>
              </a:rPr>
              <a:t>Client Requirements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2796" y="3026616"/>
            <a:ext cx="8017057" cy="5696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447" indent="-323223" lvl="1">
              <a:lnSpc>
                <a:spcPts val="4191"/>
              </a:lnSpc>
              <a:buFont typeface="Arial"/>
              <a:buChar char="•"/>
            </a:pPr>
            <a:r>
              <a:rPr lang="en-US" sz="299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Develop a ReadAlert Proof of Concept (POC)</a:t>
            </a:r>
          </a:p>
          <a:p>
            <a:pPr algn="l" marL="646447" indent="-323223" lvl="1">
              <a:lnSpc>
                <a:spcPts val="4191"/>
              </a:lnSpc>
              <a:buFont typeface="Arial"/>
              <a:buChar char="•"/>
            </a:pPr>
            <a:r>
              <a:rPr lang="en-US" sz="299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Manage reader profiles, authors, books and reading records.</a:t>
            </a:r>
          </a:p>
          <a:p>
            <a:pPr algn="l" marL="646447" indent="-323223" lvl="1">
              <a:lnSpc>
                <a:spcPts val="4191"/>
              </a:lnSpc>
              <a:buFont typeface="Arial"/>
              <a:buChar char="•"/>
            </a:pPr>
            <a:r>
              <a:rPr lang="en-US" sz="299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Support book lookup with scan/log functionality.</a:t>
            </a:r>
          </a:p>
          <a:p>
            <a:pPr algn="l" marL="646447" indent="-323223" lvl="1">
              <a:lnSpc>
                <a:spcPts val="4191"/>
              </a:lnSpc>
              <a:buFont typeface="Arial"/>
              <a:buChar char="•"/>
            </a:pPr>
            <a:r>
              <a:rPr lang="en-US" sz="299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Establish a foundation for Huddle Up integration.</a:t>
            </a:r>
          </a:p>
          <a:p>
            <a:pPr algn="l">
              <a:lnSpc>
                <a:spcPts val="4191"/>
              </a:lnSpc>
            </a:pPr>
          </a:p>
          <a:p>
            <a:pPr algn="l">
              <a:lnSpc>
                <a:spcPts val="3631"/>
              </a:lnSpc>
            </a:pPr>
            <a:r>
              <a:rPr lang="en-US" sz="2594" i="true">
                <a:solidFill>
                  <a:srgbClr val="364735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Delivery condition: Prototype / Proof of Concept.</a:t>
            </a:r>
          </a:p>
          <a:p>
            <a:pPr algn="l">
              <a:lnSpc>
                <a:spcPts val="4191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9869375" y="3026616"/>
            <a:ext cx="7673621" cy="5238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447" indent="-323223" lvl="1">
              <a:lnSpc>
                <a:spcPts val="4191"/>
              </a:lnSpc>
              <a:buFont typeface="Arial"/>
              <a:buChar char="•"/>
            </a:pPr>
            <a:r>
              <a:rPr lang="en-US" sz="299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Deliver Five Integrated ReadAlert Functional Modules</a:t>
            </a:r>
          </a:p>
          <a:p>
            <a:pPr algn="l" marL="646447" indent="-323223" lvl="1">
              <a:lnSpc>
                <a:spcPts val="4191"/>
              </a:lnSpc>
              <a:buFont typeface="Arial"/>
              <a:buChar char="•"/>
            </a:pPr>
            <a:r>
              <a:rPr lang="en-US" sz="299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Develop shared HTML, CSS and JavaScript frontend interfaces.</a:t>
            </a:r>
          </a:p>
          <a:p>
            <a:pPr algn="l" marL="646447" indent="-323223" lvl="1">
              <a:lnSpc>
                <a:spcPts val="4191"/>
              </a:lnSpc>
              <a:buFont typeface="Arial"/>
              <a:buChar char="•"/>
            </a:pPr>
            <a:r>
              <a:rPr lang="en-US" sz="299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Integrate ASP.NET Core API endpoints with SQL Server stored procedures.</a:t>
            </a:r>
          </a:p>
          <a:p>
            <a:pPr algn="l" marL="646447" indent="-323223" lvl="1">
              <a:lnSpc>
                <a:spcPts val="4191"/>
              </a:lnSpc>
              <a:buFont typeface="Arial"/>
              <a:buChar char="•"/>
            </a:pPr>
            <a:r>
              <a:rPr lang="en-US" sz="299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Implement JWT-based authentication and tenant/member context handling.</a:t>
            </a:r>
          </a:p>
          <a:p>
            <a:pPr algn="l">
              <a:lnSpc>
                <a:spcPts val="4191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636" y="514985"/>
            <a:ext cx="4007734" cy="704503"/>
            <a:chOff x="0" y="0"/>
            <a:chExt cx="1055535" cy="185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5535" cy="185548"/>
            </a:xfrm>
            <a:custGeom>
              <a:avLst/>
              <a:gdLst/>
              <a:ahLst/>
              <a:cxnLst/>
              <a:rect r="r" b="b" t="t" l="l"/>
              <a:pathLst>
                <a:path h="185548" w="1055535">
                  <a:moveTo>
                    <a:pt x="0" y="0"/>
                  </a:moveTo>
                  <a:lnTo>
                    <a:pt x="1055535" y="0"/>
                  </a:lnTo>
                  <a:lnTo>
                    <a:pt x="1055535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55535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46963" y="8841055"/>
            <a:ext cx="15541037" cy="704503"/>
            <a:chOff x="0" y="0"/>
            <a:chExt cx="4093113" cy="1855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93113" cy="185548"/>
            </a:xfrm>
            <a:custGeom>
              <a:avLst/>
              <a:gdLst/>
              <a:ahLst/>
              <a:cxnLst/>
              <a:rect r="r" b="b" t="t" l="l"/>
              <a:pathLst>
                <a:path h="185548" w="4093113">
                  <a:moveTo>
                    <a:pt x="0" y="0"/>
                  </a:moveTo>
                  <a:lnTo>
                    <a:pt x="4093113" y="0"/>
                  </a:lnTo>
                  <a:lnTo>
                    <a:pt x="4093113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93113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8841055"/>
            <a:ext cx="1822452" cy="704503"/>
            <a:chOff x="0" y="0"/>
            <a:chExt cx="479987" cy="1855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9987" cy="185548"/>
            </a:xfrm>
            <a:custGeom>
              <a:avLst/>
              <a:gdLst/>
              <a:ahLst/>
              <a:cxnLst/>
              <a:rect r="r" b="b" t="t" l="l"/>
              <a:pathLst>
                <a:path h="185548" w="479987">
                  <a:moveTo>
                    <a:pt x="0" y="0"/>
                  </a:moveTo>
                  <a:lnTo>
                    <a:pt x="479987" y="0"/>
                  </a:lnTo>
                  <a:lnTo>
                    <a:pt x="479987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79987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746963" y="2474386"/>
            <a:ext cx="11681531" cy="6224018"/>
          </a:xfrm>
          <a:custGeom>
            <a:avLst/>
            <a:gdLst/>
            <a:ahLst/>
            <a:cxnLst/>
            <a:rect r="r" b="b" t="t" l="l"/>
            <a:pathLst>
              <a:path h="6224018" w="11681531">
                <a:moveTo>
                  <a:pt x="0" y="0"/>
                </a:moveTo>
                <a:lnTo>
                  <a:pt x="11681530" y="0"/>
                </a:lnTo>
                <a:lnTo>
                  <a:pt x="11681530" y="6224018"/>
                </a:lnTo>
                <a:lnTo>
                  <a:pt x="0" y="62240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632167" y="372110"/>
            <a:ext cx="1254265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0249" y="579119"/>
            <a:ext cx="3267313" cy="56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Technical Design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-58636" y="1775356"/>
            <a:ext cx="12725991" cy="56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0"/>
              </a:lnSpc>
            </a:pPr>
            <a:r>
              <a:rPr lang="en-US" sz="322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Three-layer architecture supporting five ReadAlert functional modules.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1124776" y="1188085"/>
            <a:ext cx="9144000" cy="663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sz="3729" b="true">
                <a:solidFill>
                  <a:srgbClr val="36473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ReadAlert System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636" y="514985"/>
            <a:ext cx="5566516" cy="704503"/>
            <a:chOff x="0" y="0"/>
            <a:chExt cx="1466078" cy="185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6078" cy="185548"/>
            </a:xfrm>
            <a:custGeom>
              <a:avLst/>
              <a:gdLst/>
              <a:ahLst/>
              <a:cxnLst/>
              <a:rect r="r" b="b" t="t" l="l"/>
              <a:pathLst>
                <a:path h="185548" w="1466078">
                  <a:moveTo>
                    <a:pt x="0" y="0"/>
                  </a:moveTo>
                  <a:lnTo>
                    <a:pt x="1466078" y="0"/>
                  </a:lnTo>
                  <a:lnTo>
                    <a:pt x="1466078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6078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46963" y="8841055"/>
            <a:ext cx="15541037" cy="704503"/>
            <a:chOff x="0" y="0"/>
            <a:chExt cx="4093113" cy="1855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93113" cy="185548"/>
            </a:xfrm>
            <a:custGeom>
              <a:avLst/>
              <a:gdLst/>
              <a:ahLst/>
              <a:cxnLst/>
              <a:rect r="r" b="b" t="t" l="l"/>
              <a:pathLst>
                <a:path h="185548" w="4093113">
                  <a:moveTo>
                    <a:pt x="0" y="0"/>
                  </a:moveTo>
                  <a:lnTo>
                    <a:pt x="4093113" y="0"/>
                  </a:lnTo>
                  <a:lnTo>
                    <a:pt x="4093113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93113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8841055"/>
            <a:ext cx="1822452" cy="704503"/>
            <a:chOff x="0" y="0"/>
            <a:chExt cx="479987" cy="1855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9987" cy="185548"/>
            </a:xfrm>
            <a:custGeom>
              <a:avLst/>
              <a:gdLst/>
              <a:ahLst/>
              <a:cxnLst/>
              <a:rect r="r" b="b" t="t" l="l"/>
              <a:pathLst>
                <a:path h="185548" w="479987">
                  <a:moveTo>
                    <a:pt x="0" y="0"/>
                  </a:moveTo>
                  <a:lnTo>
                    <a:pt x="479987" y="0"/>
                  </a:lnTo>
                  <a:lnTo>
                    <a:pt x="479987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79987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3931" y="1870874"/>
            <a:ext cx="8480069" cy="6313124"/>
            <a:chOff x="0" y="0"/>
            <a:chExt cx="2233434" cy="16627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33434" cy="1662716"/>
            </a:xfrm>
            <a:custGeom>
              <a:avLst/>
              <a:gdLst/>
              <a:ahLst/>
              <a:cxnLst/>
              <a:rect r="r" b="b" t="t" l="l"/>
              <a:pathLst>
                <a:path h="1662716" w="2233434">
                  <a:moveTo>
                    <a:pt x="17346" y="0"/>
                  </a:moveTo>
                  <a:lnTo>
                    <a:pt x="2216088" y="0"/>
                  </a:lnTo>
                  <a:cubicBezTo>
                    <a:pt x="2220688" y="0"/>
                    <a:pt x="2225100" y="1828"/>
                    <a:pt x="2228353" y="5081"/>
                  </a:cubicBezTo>
                  <a:cubicBezTo>
                    <a:pt x="2231606" y="8334"/>
                    <a:pt x="2233434" y="12746"/>
                    <a:pt x="2233434" y="17346"/>
                  </a:cubicBezTo>
                  <a:lnTo>
                    <a:pt x="2233434" y="1645370"/>
                  </a:lnTo>
                  <a:cubicBezTo>
                    <a:pt x="2233434" y="1654950"/>
                    <a:pt x="2225668" y="1662716"/>
                    <a:pt x="2216088" y="1662716"/>
                  </a:cubicBezTo>
                  <a:lnTo>
                    <a:pt x="17346" y="1662716"/>
                  </a:lnTo>
                  <a:cubicBezTo>
                    <a:pt x="7766" y="1662716"/>
                    <a:pt x="0" y="1654950"/>
                    <a:pt x="0" y="1645370"/>
                  </a:cubicBezTo>
                  <a:lnTo>
                    <a:pt x="0" y="17346"/>
                  </a:lnTo>
                  <a:cubicBezTo>
                    <a:pt x="0" y="7766"/>
                    <a:pt x="7766" y="0"/>
                    <a:pt x="17346" y="0"/>
                  </a:cubicBezTo>
                  <a:close/>
                </a:path>
              </a:pathLst>
            </a:custGeom>
            <a:solidFill>
              <a:srgbClr val="CEDEC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33434" cy="1700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364602" y="1602321"/>
            <a:ext cx="8528076" cy="6310450"/>
          </a:xfrm>
          <a:custGeom>
            <a:avLst/>
            <a:gdLst/>
            <a:ahLst/>
            <a:cxnLst/>
            <a:rect r="r" b="b" t="t" l="l"/>
            <a:pathLst>
              <a:path h="6310450" w="8528076">
                <a:moveTo>
                  <a:pt x="0" y="0"/>
                </a:moveTo>
                <a:lnTo>
                  <a:pt x="8528076" y="0"/>
                </a:lnTo>
                <a:lnTo>
                  <a:pt x="8528076" y="6310450"/>
                </a:lnTo>
                <a:lnTo>
                  <a:pt x="0" y="63104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8776" y="552912"/>
            <a:ext cx="515169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Technical Implementation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258974" y="1257568"/>
            <a:ext cx="7426817" cy="61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0"/>
              </a:lnSpc>
            </a:pPr>
            <a:r>
              <a:rPr lang="en-US" sz="3529" b="true">
                <a:solidFill>
                  <a:srgbClr val="36473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Backend Integration &amp; API Design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7578" y="2004224"/>
            <a:ext cx="8135369" cy="6508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428" b="true">
                <a:solidFill>
                  <a:srgbClr val="2B4529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 Implementation</a:t>
            </a:r>
          </a:p>
          <a:p>
            <a:pPr algn="l" marL="650322" indent="-325161" lvl="1">
              <a:lnSpc>
                <a:spcPts val="4216"/>
              </a:lnSpc>
              <a:buFont typeface="Arial"/>
              <a:buChar char="•"/>
            </a:pPr>
            <a:r>
              <a:rPr lang="en-US" sz="3012">
                <a:solidFill>
                  <a:srgbClr val="2B4529"/>
                </a:solidFill>
                <a:latin typeface="Poppins"/>
                <a:ea typeface="Poppins"/>
                <a:cs typeface="Poppins"/>
                <a:sym typeface="Poppins"/>
              </a:rPr>
              <a:t>Consolidated </a:t>
            </a:r>
            <a:r>
              <a:rPr lang="en-US" sz="3012">
                <a:solidFill>
                  <a:srgbClr val="2B4529"/>
                </a:solidFill>
                <a:latin typeface="Poppins"/>
                <a:ea typeface="Poppins"/>
                <a:cs typeface="Poppins"/>
                <a:sym typeface="Poppins"/>
              </a:rPr>
              <a:t>ASP.NET Core backend</a:t>
            </a:r>
          </a:p>
          <a:p>
            <a:pPr algn="l">
              <a:lnSpc>
                <a:spcPts val="4216"/>
              </a:lnSpc>
            </a:pPr>
          </a:p>
          <a:p>
            <a:pPr algn="l" marL="650322" indent="-325161" lvl="1">
              <a:lnSpc>
                <a:spcPts val="4216"/>
              </a:lnSpc>
              <a:buFont typeface="Arial"/>
              <a:buChar char="•"/>
            </a:pPr>
            <a:r>
              <a:rPr lang="en-US" sz="3012">
                <a:solidFill>
                  <a:srgbClr val="2B4529"/>
                </a:solidFill>
                <a:latin typeface="Poppins"/>
                <a:ea typeface="Poppins"/>
                <a:cs typeface="Poppins"/>
                <a:sym typeface="Poppins"/>
              </a:rPr>
              <a:t>Module-specific GET, POST, PUT and DELETE endpoints.</a:t>
            </a:r>
          </a:p>
          <a:p>
            <a:pPr algn="l">
              <a:lnSpc>
                <a:spcPts val="4216"/>
              </a:lnSpc>
            </a:pPr>
          </a:p>
          <a:p>
            <a:pPr algn="l" marL="650322" indent="-325161" lvl="1">
              <a:lnSpc>
                <a:spcPts val="4216"/>
              </a:lnSpc>
              <a:buFont typeface="Arial"/>
              <a:buChar char="•"/>
            </a:pPr>
            <a:r>
              <a:rPr lang="en-US" sz="3012">
                <a:solidFill>
                  <a:srgbClr val="2B4529"/>
                </a:solidFill>
                <a:latin typeface="Poppins"/>
                <a:ea typeface="Poppins"/>
                <a:cs typeface="Poppins"/>
                <a:sym typeface="Poppins"/>
              </a:rPr>
              <a:t>SQL Server operations through stored procedures.</a:t>
            </a:r>
          </a:p>
          <a:p>
            <a:pPr algn="l">
              <a:lnSpc>
                <a:spcPts val="4216"/>
              </a:lnSpc>
            </a:pPr>
          </a:p>
          <a:p>
            <a:pPr algn="l" marL="650322" indent="-325161" lvl="1">
              <a:lnSpc>
                <a:spcPts val="4216"/>
              </a:lnSpc>
              <a:buFont typeface="Arial"/>
              <a:buChar char="•"/>
            </a:pPr>
            <a:r>
              <a:rPr lang="en-US" sz="3012">
                <a:solidFill>
                  <a:srgbClr val="2B4529"/>
                </a:solidFill>
                <a:latin typeface="Poppins"/>
                <a:ea typeface="Poppins"/>
                <a:cs typeface="Poppins"/>
                <a:sym typeface="Poppins"/>
              </a:rPr>
              <a:t>JWT validation and tenant/member context handling.</a:t>
            </a:r>
          </a:p>
          <a:p>
            <a:pPr algn="l">
              <a:lnSpc>
                <a:spcPts val="4362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6632167" y="372110"/>
            <a:ext cx="1254265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636" y="514985"/>
            <a:ext cx="5566516" cy="704503"/>
            <a:chOff x="0" y="0"/>
            <a:chExt cx="1466078" cy="185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6078" cy="185548"/>
            </a:xfrm>
            <a:custGeom>
              <a:avLst/>
              <a:gdLst/>
              <a:ahLst/>
              <a:cxnLst/>
              <a:rect r="r" b="b" t="t" l="l"/>
              <a:pathLst>
                <a:path h="185548" w="1466078">
                  <a:moveTo>
                    <a:pt x="0" y="0"/>
                  </a:moveTo>
                  <a:lnTo>
                    <a:pt x="1466078" y="0"/>
                  </a:lnTo>
                  <a:lnTo>
                    <a:pt x="1466078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6078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8272" y="1951867"/>
            <a:ext cx="8925728" cy="3070968"/>
            <a:chOff x="0" y="0"/>
            <a:chExt cx="2350809" cy="8088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50809" cy="808815"/>
            </a:xfrm>
            <a:custGeom>
              <a:avLst/>
              <a:gdLst/>
              <a:ahLst/>
              <a:cxnLst/>
              <a:rect r="r" b="b" t="t" l="l"/>
              <a:pathLst>
                <a:path h="808815" w="2350809">
                  <a:moveTo>
                    <a:pt x="16480" y="0"/>
                  </a:moveTo>
                  <a:lnTo>
                    <a:pt x="2334329" y="0"/>
                  </a:lnTo>
                  <a:cubicBezTo>
                    <a:pt x="2343431" y="0"/>
                    <a:pt x="2350809" y="7378"/>
                    <a:pt x="2350809" y="16480"/>
                  </a:cubicBezTo>
                  <a:lnTo>
                    <a:pt x="2350809" y="792335"/>
                  </a:lnTo>
                  <a:cubicBezTo>
                    <a:pt x="2350809" y="801436"/>
                    <a:pt x="2343431" y="808815"/>
                    <a:pt x="2334329" y="808815"/>
                  </a:cubicBezTo>
                  <a:lnTo>
                    <a:pt x="16480" y="808815"/>
                  </a:lnTo>
                  <a:cubicBezTo>
                    <a:pt x="7378" y="808815"/>
                    <a:pt x="0" y="801436"/>
                    <a:pt x="0" y="792335"/>
                  </a:cubicBezTo>
                  <a:lnTo>
                    <a:pt x="0" y="16480"/>
                  </a:lnTo>
                  <a:cubicBezTo>
                    <a:pt x="0" y="7378"/>
                    <a:pt x="7378" y="0"/>
                    <a:pt x="16480" y="0"/>
                  </a:cubicBezTo>
                  <a:close/>
                </a:path>
              </a:pathLst>
            </a:custGeom>
            <a:solidFill>
              <a:srgbClr val="CEDEC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50809" cy="846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1925" y="2215333"/>
            <a:ext cx="8925728" cy="2504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6846" indent="-268423" lvl="1">
              <a:lnSpc>
                <a:spcPts val="522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86">
                <a:solidFill>
                  <a:srgbClr val="364735"/>
                </a:solidFill>
                <a:latin typeface="Lora Bold"/>
                <a:ea typeface="Lora Bold"/>
                <a:cs typeface="Lora Bold"/>
                <a:sym typeface="Lora Bold"/>
              </a:rPr>
              <a:t>Tab</a:t>
            </a:r>
            <a:r>
              <a:rPr lang="en-US" b="true" sz="2486">
                <a:solidFill>
                  <a:srgbClr val="364735"/>
                </a:solidFill>
                <a:latin typeface="Lora Bold"/>
                <a:ea typeface="Lora Bold"/>
                <a:cs typeface="Lora Bold"/>
                <a:sym typeface="Lora Bold"/>
              </a:rPr>
              <a:t>s fo</a:t>
            </a:r>
            <a:r>
              <a:rPr lang="en-US" b="true" sz="2486">
                <a:solidFill>
                  <a:srgbClr val="364735"/>
                </a:solidFill>
                <a:latin typeface="Lora Bold"/>
                <a:ea typeface="Lora Bold"/>
                <a:cs typeface="Lora Bold"/>
                <a:sym typeface="Lora Bold"/>
              </a:rPr>
              <a:t>r Authors, Books, Reading Record, Reader Profile and Scan</a:t>
            </a:r>
          </a:p>
          <a:p>
            <a:pPr algn="l" marL="536846" indent="-268423" lvl="1">
              <a:lnSpc>
                <a:spcPts val="522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86">
                <a:solidFill>
                  <a:srgbClr val="364735"/>
                </a:solidFill>
                <a:latin typeface="Lora Bold"/>
                <a:ea typeface="Lora Bold"/>
                <a:cs typeface="Lora Bold"/>
                <a:sym typeface="Lora Bold"/>
              </a:rPr>
              <a:t>Move between modules without leaving the page</a:t>
            </a:r>
          </a:p>
          <a:p>
            <a:pPr algn="l">
              <a:lnSpc>
                <a:spcPts val="4616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9441134" y="1951867"/>
            <a:ext cx="8445298" cy="3070968"/>
            <a:chOff x="0" y="0"/>
            <a:chExt cx="2224276" cy="8088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24276" cy="808815"/>
            </a:xfrm>
            <a:custGeom>
              <a:avLst/>
              <a:gdLst/>
              <a:ahLst/>
              <a:cxnLst/>
              <a:rect r="r" b="b" t="t" l="l"/>
              <a:pathLst>
                <a:path h="808815" w="2224276">
                  <a:moveTo>
                    <a:pt x="17418" y="0"/>
                  </a:moveTo>
                  <a:lnTo>
                    <a:pt x="2206859" y="0"/>
                  </a:lnTo>
                  <a:cubicBezTo>
                    <a:pt x="2211478" y="0"/>
                    <a:pt x="2215908" y="1835"/>
                    <a:pt x="2219175" y="5101"/>
                  </a:cubicBezTo>
                  <a:cubicBezTo>
                    <a:pt x="2222441" y="8368"/>
                    <a:pt x="2224276" y="12798"/>
                    <a:pt x="2224276" y="17418"/>
                  </a:cubicBezTo>
                  <a:lnTo>
                    <a:pt x="2224276" y="791397"/>
                  </a:lnTo>
                  <a:cubicBezTo>
                    <a:pt x="2224276" y="796017"/>
                    <a:pt x="2222441" y="800447"/>
                    <a:pt x="2219175" y="803713"/>
                  </a:cubicBezTo>
                  <a:cubicBezTo>
                    <a:pt x="2215908" y="806980"/>
                    <a:pt x="2211478" y="808815"/>
                    <a:pt x="2206859" y="808815"/>
                  </a:cubicBezTo>
                  <a:lnTo>
                    <a:pt x="17418" y="808815"/>
                  </a:lnTo>
                  <a:cubicBezTo>
                    <a:pt x="12798" y="808815"/>
                    <a:pt x="8368" y="806980"/>
                    <a:pt x="5101" y="803713"/>
                  </a:cubicBezTo>
                  <a:cubicBezTo>
                    <a:pt x="1835" y="800447"/>
                    <a:pt x="0" y="796017"/>
                    <a:pt x="0" y="791397"/>
                  </a:cubicBezTo>
                  <a:lnTo>
                    <a:pt x="0" y="17418"/>
                  </a:lnTo>
                  <a:cubicBezTo>
                    <a:pt x="0" y="12798"/>
                    <a:pt x="1835" y="8368"/>
                    <a:pt x="5101" y="5101"/>
                  </a:cubicBezTo>
                  <a:cubicBezTo>
                    <a:pt x="8368" y="1835"/>
                    <a:pt x="12798" y="0"/>
                    <a:pt x="17418" y="0"/>
                  </a:cubicBezTo>
                  <a:close/>
                </a:path>
              </a:pathLst>
            </a:custGeom>
            <a:solidFill>
              <a:srgbClr val="CEDEC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24276" cy="846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368004" y="5314045"/>
            <a:ext cx="6863512" cy="4039986"/>
          </a:xfrm>
          <a:custGeom>
            <a:avLst/>
            <a:gdLst/>
            <a:ahLst/>
            <a:cxnLst/>
            <a:rect r="r" b="b" t="t" l="l"/>
            <a:pathLst>
              <a:path h="4039986" w="6863512">
                <a:moveTo>
                  <a:pt x="0" y="0"/>
                </a:moveTo>
                <a:lnTo>
                  <a:pt x="6863512" y="0"/>
                </a:lnTo>
                <a:lnTo>
                  <a:pt x="6863512" y="4039986"/>
                </a:lnTo>
                <a:lnTo>
                  <a:pt x="0" y="4039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1925" y="530606"/>
            <a:ext cx="6126446" cy="131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1"/>
              </a:lnSpc>
            </a:pPr>
            <a:r>
              <a:rPr lang="en-US" sz="3729" b="true">
                <a:solidFill>
                  <a:srgbClr val="F1ECEC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Shared Frontend Design</a:t>
            </a:r>
          </a:p>
          <a:p>
            <a:pPr algn="l">
              <a:lnSpc>
                <a:spcPts val="5221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6632167" y="372110"/>
            <a:ext cx="1254265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04491" y="1226185"/>
            <a:ext cx="987901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hutiya"/>
                <a:ea typeface="Thutiya"/>
                <a:cs typeface="Thutiya"/>
                <a:sym typeface="Thutiya"/>
              </a:rPr>
              <a:t>One</a:t>
            </a:r>
            <a:r>
              <a:rPr lang="en-US" sz="3000">
                <a:solidFill>
                  <a:srgbClr val="000000"/>
                </a:solidFill>
                <a:latin typeface="Thutiya"/>
                <a:ea typeface="Thutiya"/>
                <a:cs typeface="Thutiya"/>
                <a:sym typeface="Thutiya"/>
              </a:rPr>
              <a:t> page, five modules, one look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77071" y="2242494"/>
            <a:ext cx="8925728" cy="2504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6846" indent="-268423" lvl="1">
              <a:lnSpc>
                <a:spcPts val="522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86">
                <a:solidFill>
                  <a:srgbClr val="364735"/>
                </a:solidFill>
                <a:latin typeface="Lora Bold"/>
                <a:ea typeface="Lora Bold"/>
                <a:cs typeface="Lora Bold"/>
                <a:sym typeface="Lora Bold"/>
              </a:rPr>
              <a:t>readale</a:t>
            </a:r>
            <a:r>
              <a:rPr lang="en-US" b="true" sz="2486">
                <a:solidFill>
                  <a:srgbClr val="364735"/>
                </a:solidFill>
                <a:latin typeface="Lora Bold"/>
                <a:ea typeface="Lora Bold"/>
                <a:cs typeface="Lora Bold"/>
                <a:sym typeface="Lora Bold"/>
              </a:rPr>
              <a:t>rt-theme.css holds the colours, fonts and spacing</a:t>
            </a:r>
          </a:p>
          <a:p>
            <a:pPr algn="l" marL="536846" indent="-268423" lvl="1">
              <a:lnSpc>
                <a:spcPts val="522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86">
                <a:solidFill>
                  <a:srgbClr val="364735"/>
                </a:solidFill>
                <a:latin typeface="Lora Bold"/>
                <a:ea typeface="Lora Bold"/>
                <a:cs typeface="Lora Bold"/>
                <a:sym typeface="Lora Bold"/>
              </a:rPr>
              <a:t>Chang</a:t>
            </a:r>
            <a:r>
              <a:rPr lang="en-US" b="true" sz="2486">
                <a:solidFill>
                  <a:srgbClr val="364735"/>
                </a:solidFill>
                <a:latin typeface="Lora Bold"/>
                <a:ea typeface="Lora Bold"/>
                <a:cs typeface="Lora Bold"/>
                <a:sym typeface="Lora Bold"/>
              </a:rPr>
              <a:t>e the look in one place</a:t>
            </a:r>
          </a:p>
          <a:p>
            <a:pPr algn="l">
              <a:lnSpc>
                <a:spcPts val="46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636" y="514985"/>
            <a:ext cx="6224769" cy="704503"/>
            <a:chOff x="0" y="0"/>
            <a:chExt cx="1639445" cy="185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39445" cy="185548"/>
            </a:xfrm>
            <a:custGeom>
              <a:avLst/>
              <a:gdLst/>
              <a:ahLst/>
              <a:cxnLst/>
              <a:rect r="r" b="b" t="t" l="l"/>
              <a:pathLst>
                <a:path h="185548" w="1639445">
                  <a:moveTo>
                    <a:pt x="0" y="0"/>
                  </a:moveTo>
                  <a:lnTo>
                    <a:pt x="1639445" y="0"/>
                  </a:lnTo>
                  <a:lnTo>
                    <a:pt x="1639445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39445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3935" y="9936430"/>
            <a:ext cx="17962347" cy="112680"/>
            <a:chOff x="0" y="0"/>
            <a:chExt cx="4730824" cy="296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30824" cy="29677"/>
            </a:xfrm>
            <a:custGeom>
              <a:avLst/>
              <a:gdLst/>
              <a:ahLst/>
              <a:cxnLst/>
              <a:rect r="r" b="b" t="t" l="l"/>
              <a:pathLst>
                <a:path h="29677" w="4730824">
                  <a:moveTo>
                    <a:pt x="0" y="0"/>
                  </a:moveTo>
                  <a:lnTo>
                    <a:pt x="4730824" y="0"/>
                  </a:lnTo>
                  <a:lnTo>
                    <a:pt x="4730824" y="29677"/>
                  </a:lnTo>
                  <a:lnTo>
                    <a:pt x="0" y="29677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730824" cy="677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3935" y="2245039"/>
            <a:ext cx="9214014" cy="6717572"/>
            <a:chOff x="0" y="0"/>
            <a:chExt cx="2426736" cy="17692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26736" cy="1769237"/>
            </a:xfrm>
            <a:custGeom>
              <a:avLst/>
              <a:gdLst/>
              <a:ahLst/>
              <a:cxnLst/>
              <a:rect r="r" b="b" t="t" l="l"/>
              <a:pathLst>
                <a:path h="1769237" w="2426736">
                  <a:moveTo>
                    <a:pt x="33609" y="0"/>
                  </a:moveTo>
                  <a:lnTo>
                    <a:pt x="2393127" y="0"/>
                  </a:lnTo>
                  <a:cubicBezTo>
                    <a:pt x="2411689" y="0"/>
                    <a:pt x="2426736" y="15047"/>
                    <a:pt x="2426736" y="33609"/>
                  </a:cubicBezTo>
                  <a:lnTo>
                    <a:pt x="2426736" y="1735628"/>
                  </a:lnTo>
                  <a:cubicBezTo>
                    <a:pt x="2426736" y="1754190"/>
                    <a:pt x="2411689" y="1769237"/>
                    <a:pt x="2393127" y="1769237"/>
                  </a:cubicBezTo>
                  <a:lnTo>
                    <a:pt x="33609" y="1769237"/>
                  </a:lnTo>
                  <a:cubicBezTo>
                    <a:pt x="15047" y="1769237"/>
                    <a:pt x="0" y="1754190"/>
                    <a:pt x="0" y="1735628"/>
                  </a:cubicBezTo>
                  <a:lnTo>
                    <a:pt x="0" y="33609"/>
                  </a:lnTo>
                  <a:cubicBezTo>
                    <a:pt x="0" y="15047"/>
                    <a:pt x="15047" y="0"/>
                    <a:pt x="336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426736" cy="18073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Frontend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Reader Profile interface developed for viewing and managing reader details.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Backend Integration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Designed to communicate with ReadAlert's ASP.NET Core API.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Data Management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Uses the project's SQL Server and stored procedure architecture.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5885" y="3983809"/>
            <a:ext cx="8870114" cy="47625"/>
            <a:chOff x="0" y="0"/>
            <a:chExt cx="2336162" cy="125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36162" cy="12543"/>
            </a:xfrm>
            <a:custGeom>
              <a:avLst/>
              <a:gdLst/>
              <a:ahLst/>
              <a:cxnLst/>
              <a:rect r="r" b="b" t="t" l="l"/>
              <a:pathLst>
                <a:path h="12543" w="2336162">
                  <a:moveTo>
                    <a:pt x="0" y="0"/>
                  </a:moveTo>
                  <a:lnTo>
                    <a:pt x="2336162" y="0"/>
                  </a:lnTo>
                  <a:lnTo>
                    <a:pt x="233616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3616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25885" y="2470601"/>
            <a:ext cx="490572" cy="490572"/>
          </a:xfrm>
          <a:custGeom>
            <a:avLst/>
            <a:gdLst/>
            <a:ahLst/>
            <a:cxnLst/>
            <a:rect r="r" b="b" t="t" l="l"/>
            <a:pathLst>
              <a:path h="490572" w="490572">
                <a:moveTo>
                  <a:pt x="0" y="0"/>
                </a:moveTo>
                <a:lnTo>
                  <a:pt x="490572" y="0"/>
                </a:lnTo>
                <a:lnTo>
                  <a:pt x="490572" y="490572"/>
                </a:lnTo>
                <a:lnTo>
                  <a:pt x="0" y="490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476018" y="3452161"/>
            <a:ext cx="8226570" cy="5003721"/>
          </a:xfrm>
          <a:custGeom>
            <a:avLst/>
            <a:gdLst/>
            <a:ahLst/>
            <a:cxnLst/>
            <a:rect r="r" b="b" t="t" l="l"/>
            <a:pathLst>
              <a:path h="5003721" w="8226570">
                <a:moveTo>
                  <a:pt x="0" y="0"/>
                </a:moveTo>
                <a:lnTo>
                  <a:pt x="8226570" y="0"/>
                </a:lnTo>
                <a:lnTo>
                  <a:pt x="8226570" y="5003722"/>
                </a:lnTo>
                <a:lnTo>
                  <a:pt x="0" y="5003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3935" y="588472"/>
            <a:ext cx="5811861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Core Module Implementation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632167" y="372110"/>
            <a:ext cx="1254265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24" y="1407473"/>
            <a:ext cx="6095282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2B45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Reader Profile Management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8784" y="2499661"/>
            <a:ext cx="3713262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64735"/>
                </a:solidFill>
                <a:latin typeface="Thutiya Semi-Bold"/>
                <a:ea typeface="Thutiya Semi-Bold"/>
                <a:cs typeface="Thutiya Semi-Bold"/>
                <a:sym typeface="Thutiya Semi-Bold"/>
              </a:rPr>
              <a:t>Module Functionality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9231" y="4174309"/>
            <a:ext cx="8366768" cy="487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64735"/>
                </a:solidFill>
                <a:latin typeface="Thutiya Semi-Bold"/>
                <a:ea typeface="Thutiya Semi-Bold"/>
                <a:cs typeface="Thutiya Semi-Bold"/>
                <a:sym typeface="Thutiya Semi-Bold"/>
              </a:rPr>
              <a:t>R</a:t>
            </a:r>
            <a:r>
              <a:rPr lang="en-US" b="true" sz="2699">
                <a:solidFill>
                  <a:srgbClr val="364735"/>
                </a:solidFill>
                <a:latin typeface="Thutiya Semi-Bold"/>
                <a:ea typeface="Thutiya Semi-Bold"/>
                <a:cs typeface="Thutiya Semi-Bold"/>
                <a:sym typeface="Thutiya Semi-Bold"/>
              </a:rPr>
              <a:t>ead</a:t>
            </a:r>
            <a:r>
              <a:rPr lang="en-US" b="true" sz="2699">
                <a:solidFill>
                  <a:srgbClr val="364735"/>
                </a:solidFill>
                <a:latin typeface="Thutiya Semi-Bold"/>
                <a:ea typeface="Thutiya Semi-Bold"/>
                <a:cs typeface="Thutiya Semi-Bold"/>
                <a:sym typeface="Thutiya Semi-Bold"/>
              </a:rPr>
              <a:t>er Identity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364735"/>
                </a:solidFill>
                <a:latin typeface="Thutiya"/>
                <a:ea typeface="Thutiya"/>
                <a:cs typeface="Thutiya"/>
                <a:sym typeface="Thutiya"/>
              </a:rPr>
              <a:t>Organizes profile information around individual members.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64735"/>
                </a:solidFill>
                <a:latin typeface="Thutiya Semi-Bold"/>
                <a:ea typeface="Thutiya Semi-Bold"/>
                <a:cs typeface="Thutiya Semi-Bold"/>
                <a:sym typeface="Thutiya Semi-Bold"/>
              </a:rPr>
              <a:t>Profi</a:t>
            </a:r>
            <a:r>
              <a:rPr lang="en-US" b="true" sz="2699">
                <a:solidFill>
                  <a:srgbClr val="364735"/>
                </a:solidFill>
                <a:latin typeface="Thutiya Semi-Bold"/>
                <a:ea typeface="Thutiya Semi-Bold"/>
                <a:cs typeface="Thutiya Semi-Bold"/>
                <a:sym typeface="Thutiya Semi-Bold"/>
              </a:rPr>
              <a:t>le Da</a:t>
            </a:r>
            <a:r>
              <a:rPr lang="en-US" b="true" sz="2699">
                <a:solidFill>
                  <a:srgbClr val="364735"/>
                </a:solidFill>
                <a:latin typeface="Thutiya Semi-Bold"/>
                <a:ea typeface="Thutiya Semi-Bold"/>
                <a:cs typeface="Thutiya Semi-Bold"/>
                <a:sym typeface="Thutiya Semi-Bold"/>
              </a:rPr>
              <a:t>ta Flow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364735"/>
                </a:solidFill>
                <a:latin typeface="Thutiya"/>
                <a:ea typeface="Thutiya"/>
                <a:cs typeface="Thutiya"/>
                <a:sym typeface="Thutiya"/>
              </a:rPr>
              <a:t>Connects the interface with the API and database.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64735"/>
                </a:solidFill>
                <a:latin typeface="Thutiya Semi-Bold"/>
                <a:ea typeface="Thutiya Semi-Bold"/>
                <a:cs typeface="Thutiya Semi-Bold"/>
                <a:sym typeface="Thutiya Semi-Bold"/>
              </a:rPr>
              <a:t>Multi-Tenant Context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64735"/>
                </a:solidFill>
                <a:latin typeface="Thutiya"/>
                <a:ea typeface="Thutiya"/>
                <a:cs typeface="Thutiya"/>
                <a:sym typeface="Thutiya"/>
              </a:rPr>
              <a:t>Uses Tenant ID and Member ID for profile identification.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828362" y="3059731"/>
            <a:ext cx="8306746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364735"/>
                </a:solidFill>
                <a:latin typeface="Thutiya"/>
                <a:ea typeface="Thutiya"/>
                <a:cs typeface="Thutiya"/>
                <a:sym typeface="Thutiya"/>
              </a:rPr>
              <a:t>Reader Profile interface developed for viewing and managing reader details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91130" y="9158191"/>
            <a:ext cx="15541037" cy="591378"/>
            <a:chOff x="0" y="0"/>
            <a:chExt cx="4093113" cy="15575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93113" cy="155754"/>
            </a:xfrm>
            <a:custGeom>
              <a:avLst/>
              <a:gdLst/>
              <a:ahLst/>
              <a:cxnLst/>
              <a:rect r="r" b="b" t="t" l="l"/>
              <a:pathLst>
                <a:path h="155754" w="4093113">
                  <a:moveTo>
                    <a:pt x="0" y="0"/>
                  </a:moveTo>
                  <a:lnTo>
                    <a:pt x="4093113" y="0"/>
                  </a:lnTo>
                  <a:lnTo>
                    <a:pt x="4093113" y="155754"/>
                  </a:lnTo>
                  <a:lnTo>
                    <a:pt x="0" y="155754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093113" cy="193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5012615" y="9201150"/>
            <a:ext cx="7944390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1ECE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Reader Profile → ReadAlert API → SQL Server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636" y="514985"/>
            <a:ext cx="6167530" cy="704503"/>
            <a:chOff x="0" y="0"/>
            <a:chExt cx="1624370" cy="185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4370" cy="185548"/>
            </a:xfrm>
            <a:custGeom>
              <a:avLst/>
              <a:gdLst/>
              <a:ahLst/>
              <a:cxnLst/>
              <a:rect r="r" b="b" t="t" l="l"/>
              <a:pathLst>
                <a:path h="185548" w="1624370">
                  <a:moveTo>
                    <a:pt x="0" y="0"/>
                  </a:moveTo>
                  <a:lnTo>
                    <a:pt x="1624370" y="0"/>
                  </a:lnTo>
                  <a:lnTo>
                    <a:pt x="1624370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24370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8958" y="2232728"/>
            <a:ext cx="9214014" cy="7511847"/>
            <a:chOff x="0" y="0"/>
            <a:chExt cx="2426736" cy="19784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6736" cy="1978429"/>
            </a:xfrm>
            <a:custGeom>
              <a:avLst/>
              <a:gdLst/>
              <a:ahLst/>
              <a:cxnLst/>
              <a:rect r="r" b="b" t="t" l="l"/>
              <a:pathLst>
                <a:path h="1978429" w="2426736">
                  <a:moveTo>
                    <a:pt x="33609" y="0"/>
                  </a:moveTo>
                  <a:lnTo>
                    <a:pt x="2393127" y="0"/>
                  </a:lnTo>
                  <a:cubicBezTo>
                    <a:pt x="2411689" y="0"/>
                    <a:pt x="2426736" y="15047"/>
                    <a:pt x="2426736" y="33609"/>
                  </a:cubicBezTo>
                  <a:lnTo>
                    <a:pt x="2426736" y="1944819"/>
                  </a:lnTo>
                  <a:cubicBezTo>
                    <a:pt x="2426736" y="1963381"/>
                    <a:pt x="2411689" y="1978429"/>
                    <a:pt x="2393127" y="1978429"/>
                  </a:cubicBezTo>
                  <a:lnTo>
                    <a:pt x="33609" y="1978429"/>
                  </a:lnTo>
                  <a:cubicBezTo>
                    <a:pt x="15047" y="1978429"/>
                    <a:pt x="0" y="1963381"/>
                    <a:pt x="0" y="1944819"/>
                  </a:cubicBezTo>
                  <a:lnTo>
                    <a:pt x="0" y="33609"/>
                  </a:lnTo>
                  <a:cubicBezTo>
                    <a:pt x="0" y="15047"/>
                    <a:pt x="15047" y="0"/>
                    <a:pt x="336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26736" cy="2016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00908" y="3971498"/>
            <a:ext cx="8870114" cy="47625"/>
            <a:chOff x="0" y="0"/>
            <a:chExt cx="2336162" cy="125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6162" cy="12543"/>
            </a:xfrm>
            <a:custGeom>
              <a:avLst/>
              <a:gdLst/>
              <a:ahLst/>
              <a:cxnLst/>
              <a:rect r="r" b="b" t="t" l="l"/>
              <a:pathLst>
                <a:path h="12543" w="2336162">
                  <a:moveTo>
                    <a:pt x="0" y="0"/>
                  </a:moveTo>
                  <a:lnTo>
                    <a:pt x="2336162" y="0"/>
                  </a:lnTo>
                  <a:lnTo>
                    <a:pt x="233616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33616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716701" y="2499741"/>
            <a:ext cx="8346850" cy="4462538"/>
          </a:xfrm>
          <a:custGeom>
            <a:avLst/>
            <a:gdLst/>
            <a:ahLst/>
            <a:cxnLst/>
            <a:rect r="r" b="b" t="t" l="l"/>
            <a:pathLst>
              <a:path h="4462538" w="8346850">
                <a:moveTo>
                  <a:pt x="0" y="0"/>
                </a:moveTo>
                <a:lnTo>
                  <a:pt x="8346850" y="0"/>
                </a:lnTo>
                <a:lnTo>
                  <a:pt x="8346850" y="4462538"/>
                </a:lnTo>
                <a:lnTo>
                  <a:pt x="0" y="4462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28958" y="551959"/>
            <a:ext cx="669746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Core Module Implementation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632167" y="372110"/>
            <a:ext cx="1254265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8958" y="1404687"/>
            <a:ext cx="6095282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2B45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Author Catalogue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02998" y="2442591"/>
            <a:ext cx="3584079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647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 Functionality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3385" y="3056945"/>
            <a:ext cx="8306746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64735"/>
                </a:solidFill>
                <a:latin typeface="Lora"/>
                <a:ea typeface="Lora"/>
                <a:cs typeface="Lora"/>
                <a:sym typeface="Lora"/>
              </a:rPr>
              <a:t>Provides a central catalogue for organising book information and associated authors.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0549" y="4219148"/>
            <a:ext cx="8032418" cy="5147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647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</a:t>
            </a:r>
            <a:r>
              <a:rPr lang="en-US" b="true" sz="2699">
                <a:solidFill>
                  <a:srgbClr val="3647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ose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364735"/>
                </a:solidFill>
                <a:latin typeface="Canva Sans"/>
                <a:ea typeface="Canva Sans"/>
                <a:cs typeface="Canva Sans"/>
                <a:sym typeface="Canva Sans"/>
              </a:rPr>
              <a:t>Search, vi</a:t>
            </a:r>
            <a:r>
              <a:rPr lang="en-US" sz="2699">
                <a:solidFill>
                  <a:srgbClr val="364735"/>
                </a:solidFill>
                <a:latin typeface="Canva Sans"/>
                <a:ea typeface="Canva Sans"/>
                <a:cs typeface="Canva Sans"/>
                <a:sym typeface="Canva Sans"/>
              </a:rPr>
              <a:t>ew and manage author information.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647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</a:t>
            </a:r>
            <a:r>
              <a:rPr lang="en-US" b="true" sz="2699">
                <a:solidFill>
                  <a:srgbClr val="3647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nta</a:t>
            </a:r>
            <a:r>
              <a:rPr lang="en-US" b="true" sz="2699">
                <a:solidFill>
                  <a:srgbClr val="3647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tion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364735"/>
                </a:solidFill>
                <a:latin typeface="Canva Sans"/>
                <a:ea typeface="Canva Sans"/>
                <a:cs typeface="Canva Sans"/>
                <a:sym typeface="Canva Sans"/>
              </a:rPr>
              <a:t>Au</a:t>
            </a:r>
            <a:r>
              <a:rPr lang="en-US" sz="2699">
                <a:solidFill>
                  <a:srgbClr val="364735"/>
                </a:solidFill>
                <a:latin typeface="Canva Sans"/>
                <a:ea typeface="Canva Sans"/>
                <a:cs typeface="Canva Sans"/>
                <a:sym typeface="Canva Sans"/>
              </a:rPr>
              <a:t>thor</a:t>
            </a:r>
            <a:r>
              <a:rPr lang="en-US" sz="2699">
                <a:solidFill>
                  <a:srgbClr val="364735"/>
                </a:solidFill>
                <a:latin typeface="Canva Sans"/>
                <a:ea typeface="Canva Sans"/>
                <a:cs typeface="Canva Sans"/>
                <a:sym typeface="Canva Sans"/>
              </a:rPr>
              <a:t>-relat</a:t>
            </a:r>
            <a:r>
              <a:rPr lang="en-US" sz="2699">
                <a:solidFill>
                  <a:srgbClr val="364735"/>
                </a:solidFill>
                <a:latin typeface="Canva Sans"/>
                <a:ea typeface="Canva Sans"/>
                <a:cs typeface="Canva Sans"/>
                <a:sym typeface="Canva Sans"/>
              </a:rPr>
              <a:t>ed API endpoints and CRUD operations.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647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2699">
                <a:solidFill>
                  <a:srgbClr val="3647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ntegration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364735"/>
                </a:solidFill>
                <a:latin typeface="Canva Sans"/>
                <a:ea typeface="Canva Sans"/>
                <a:cs typeface="Canva Sans"/>
                <a:sym typeface="Canva Sans"/>
              </a:rPr>
              <a:t>Op</a:t>
            </a:r>
            <a:r>
              <a:rPr lang="en-US" sz="2699">
                <a:solidFill>
                  <a:srgbClr val="364735"/>
                </a:solidFill>
                <a:latin typeface="Canva Sans"/>
                <a:ea typeface="Canva Sans"/>
                <a:cs typeface="Canva Sans"/>
                <a:sym typeface="Canva Sans"/>
              </a:rPr>
              <a:t>en Library author lookup and SQL Server stored procedures.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994550" y="7152673"/>
            <a:ext cx="7791152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Author catalogue supports external and internal Author searches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Results can be filtered by ascending and descending order.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636" y="514985"/>
            <a:ext cx="6167530" cy="704503"/>
            <a:chOff x="0" y="0"/>
            <a:chExt cx="1624370" cy="185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4370" cy="185548"/>
            </a:xfrm>
            <a:custGeom>
              <a:avLst/>
              <a:gdLst/>
              <a:ahLst/>
              <a:cxnLst/>
              <a:rect r="r" b="b" t="t" l="l"/>
              <a:pathLst>
                <a:path h="185548" w="1624370">
                  <a:moveTo>
                    <a:pt x="0" y="0"/>
                  </a:moveTo>
                  <a:lnTo>
                    <a:pt x="1624370" y="0"/>
                  </a:lnTo>
                  <a:lnTo>
                    <a:pt x="1624370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24370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3935" y="2245039"/>
            <a:ext cx="9214014" cy="7511847"/>
            <a:chOff x="0" y="0"/>
            <a:chExt cx="2426736" cy="19784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6736" cy="1978429"/>
            </a:xfrm>
            <a:custGeom>
              <a:avLst/>
              <a:gdLst/>
              <a:ahLst/>
              <a:cxnLst/>
              <a:rect r="r" b="b" t="t" l="l"/>
              <a:pathLst>
                <a:path h="1978429" w="2426736">
                  <a:moveTo>
                    <a:pt x="33609" y="0"/>
                  </a:moveTo>
                  <a:lnTo>
                    <a:pt x="2393127" y="0"/>
                  </a:lnTo>
                  <a:cubicBezTo>
                    <a:pt x="2411689" y="0"/>
                    <a:pt x="2426736" y="15047"/>
                    <a:pt x="2426736" y="33609"/>
                  </a:cubicBezTo>
                  <a:lnTo>
                    <a:pt x="2426736" y="1944819"/>
                  </a:lnTo>
                  <a:cubicBezTo>
                    <a:pt x="2426736" y="1963381"/>
                    <a:pt x="2411689" y="1978429"/>
                    <a:pt x="2393127" y="1978429"/>
                  </a:cubicBezTo>
                  <a:lnTo>
                    <a:pt x="33609" y="1978429"/>
                  </a:lnTo>
                  <a:cubicBezTo>
                    <a:pt x="15047" y="1978429"/>
                    <a:pt x="0" y="1963381"/>
                    <a:pt x="0" y="1944819"/>
                  </a:cubicBezTo>
                  <a:lnTo>
                    <a:pt x="0" y="33609"/>
                  </a:lnTo>
                  <a:cubicBezTo>
                    <a:pt x="0" y="15047"/>
                    <a:pt x="15047" y="0"/>
                    <a:pt x="336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26736" cy="2016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25885" y="3983809"/>
            <a:ext cx="8870114" cy="47625"/>
            <a:chOff x="0" y="0"/>
            <a:chExt cx="2336162" cy="125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6162" cy="12543"/>
            </a:xfrm>
            <a:custGeom>
              <a:avLst/>
              <a:gdLst/>
              <a:ahLst/>
              <a:cxnLst/>
              <a:rect r="r" b="b" t="t" l="l"/>
              <a:pathLst>
                <a:path h="12543" w="2336162">
                  <a:moveTo>
                    <a:pt x="0" y="0"/>
                  </a:moveTo>
                  <a:lnTo>
                    <a:pt x="2336162" y="0"/>
                  </a:lnTo>
                  <a:lnTo>
                    <a:pt x="233616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33616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727103" y="2715887"/>
            <a:ext cx="8159330" cy="5715537"/>
          </a:xfrm>
          <a:custGeom>
            <a:avLst/>
            <a:gdLst/>
            <a:ahLst/>
            <a:cxnLst/>
            <a:rect r="r" b="b" t="t" l="l"/>
            <a:pathLst>
              <a:path h="5715537" w="8159330">
                <a:moveTo>
                  <a:pt x="0" y="0"/>
                </a:moveTo>
                <a:lnTo>
                  <a:pt x="8159330" y="0"/>
                </a:lnTo>
                <a:lnTo>
                  <a:pt x="8159330" y="5715537"/>
                </a:lnTo>
                <a:lnTo>
                  <a:pt x="0" y="5715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28958" y="551959"/>
            <a:ext cx="669746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Core Module Implementation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632167" y="372110"/>
            <a:ext cx="1254265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08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935" y="1407473"/>
            <a:ext cx="6095282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2B45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Book Catalogue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7975" y="2454902"/>
            <a:ext cx="3584079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647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 Functionality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69871" y="4336234"/>
            <a:ext cx="8032418" cy="562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647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</a:t>
            </a:r>
            <a:r>
              <a:rPr lang="en-US" b="true" sz="2699">
                <a:solidFill>
                  <a:srgbClr val="3647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ook Man</a:t>
            </a:r>
            <a:r>
              <a:rPr lang="en-US" b="true" sz="2699">
                <a:solidFill>
                  <a:srgbClr val="3647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agement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364735"/>
                </a:solidFill>
                <a:latin typeface="Canva Sans"/>
                <a:ea typeface="Canva Sans"/>
                <a:cs typeface="Canva Sans"/>
                <a:sym typeface="Canva Sans"/>
              </a:rPr>
              <a:t>Search, view, add and edit catalogue records.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647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</a:t>
            </a:r>
            <a:r>
              <a:rPr lang="en-US" b="true" sz="2699">
                <a:solidFill>
                  <a:srgbClr val="3647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ked</a:t>
            </a:r>
            <a:r>
              <a:rPr lang="en-US" sz="2699">
                <a:solidFill>
                  <a:srgbClr val="364735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2699">
                <a:solidFill>
                  <a:srgbClr val="3647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Authors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364735"/>
                </a:solidFill>
                <a:latin typeface="Canva Sans"/>
                <a:ea typeface="Canva Sans"/>
                <a:cs typeface="Canva Sans"/>
                <a:sym typeface="Canva Sans"/>
              </a:rPr>
              <a:t>Manag</a:t>
            </a:r>
            <a:r>
              <a:rPr lang="en-US" sz="2699">
                <a:solidFill>
                  <a:srgbClr val="364735"/>
                </a:solidFill>
                <a:latin typeface="Canva Sans"/>
                <a:ea typeface="Canva Sans"/>
                <a:cs typeface="Canva Sans"/>
                <a:sym typeface="Canva Sans"/>
              </a:rPr>
              <a:t>e associations between books and author records.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647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</a:t>
            </a:r>
            <a:r>
              <a:rPr lang="en-US" b="true" sz="2699">
                <a:solidFill>
                  <a:srgbClr val="3647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ternal Lookup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364735"/>
                </a:solidFill>
                <a:latin typeface="Canva Sans"/>
                <a:ea typeface="Canva Sans"/>
                <a:cs typeface="Canva Sans"/>
                <a:sym typeface="Canva Sans"/>
              </a:rPr>
              <a:t>Retrieves book details using ISBN lookup through </a:t>
            </a:r>
            <a:r>
              <a:rPr lang="en-US" sz="2699">
                <a:solidFill>
                  <a:srgbClr val="364735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699">
                <a:solidFill>
                  <a:srgbClr val="364735"/>
                </a:solidFill>
                <a:latin typeface="Canva Sans"/>
                <a:ea typeface="Canva Sans"/>
                <a:cs typeface="Canva Sans"/>
                <a:sym typeface="Canva Sans"/>
              </a:rPr>
              <a:t>pen Library, reducing manual data entry.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828362" y="3069256"/>
            <a:ext cx="8306746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64735"/>
                </a:solidFill>
                <a:latin typeface="Lora"/>
                <a:ea typeface="Lora"/>
                <a:cs typeface="Lora"/>
                <a:sym typeface="Lora"/>
              </a:rPr>
              <a:t>Provides a central catalogue for organising book information and associated authors.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03319" y="8738022"/>
            <a:ext cx="736490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Book Catalogue interface displaying book records, linked authors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and management options.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636" y="514985"/>
            <a:ext cx="6167530" cy="704503"/>
            <a:chOff x="0" y="0"/>
            <a:chExt cx="1624370" cy="185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4370" cy="185548"/>
            </a:xfrm>
            <a:custGeom>
              <a:avLst/>
              <a:gdLst/>
              <a:ahLst/>
              <a:cxnLst/>
              <a:rect r="r" b="b" t="t" l="l"/>
              <a:pathLst>
                <a:path h="185548" w="1624370">
                  <a:moveTo>
                    <a:pt x="0" y="0"/>
                  </a:moveTo>
                  <a:lnTo>
                    <a:pt x="1624370" y="0"/>
                  </a:lnTo>
                  <a:lnTo>
                    <a:pt x="1624370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24370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90756" y="3208993"/>
            <a:ext cx="8295677" cy="5275243"/>
          </a:xfrm>
          <a:custGeom>
            <a:avLst/>
            <a:gdLst/>
            <a:ahLst/>
            <a:cxnLst/>
            <a:rect r="r" b="b" t="t" l="l"/>
            <a:pathLst>
              <a:path h="5275243" w="8295677">
                <a:moveTo>
                  <a:pt x="0" y="0"/>
                </a:moveTo>
                <a:lnTo>
                  <a:pt x="8295677" y="0"/>
                </a:lnTo>
                <a:lnTo>
                  <a:pt x="8295677" y="5275242"/>
                </a:lnTo>
                <a:lnTo>
                  <a:pt x="0" y="5275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632167" y="372110"/>
            <a:ext cx="1254265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09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283" y="543704"/>
            <a:ext cx="6095282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1ECE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Reading Records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28958" y="1595444"/>
            <a:ext cx="8915042" cy="2587541"/>
            <a:chOff x="0" y="0"/>
            <a:chExt cx="11886723" cy="345005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1886723" cy="3450054"/>
              <a:chOff x="0" y="0"/>
              <a:chExt cx="3679369" cy="106791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679369" cy="1067916"/>
              </a:xfrm>
              <a:custGeom>
                <a:avLst/>
                <a:gdLst/>
                <a:ahLst/>
                <a:cxnLst/>
                <a:rect r="r" b="b" t="t" l="l"/>
                <a:pathLst>
                  <a:path h="1067916" w="3679369">
                    <a:moveTo>
                      <a:pt x="22167" y="0"/>
                    </a:moveTo>
                    <a:lnTo>
                      <a:pt x="3657202" y="0"/>
                    </a:lnTo>
                    <a:cubicBezTo>
                      <a:pt x="3663081" y="0"/>
                      <a:pt x="3668719" y="2335"/>
                      <a:pt x="3672877" y="6493"/>
                    </a:cubicBezTo>
                    <a:cubicBezTo>
                      <a:pt x="3677034" y="10650"/>
                      <a:pt x="3679369" y="16288"/>
                      <a:pt x="3679369" y="22167"/>
                    </a:cubicBezTo>
                    <a:lnTo>
                      <a:pt x="3679369" y="1045749"/>
                    </a:lnTo>
                    <a:cubicBezTo>
                      <a:pt x="3679369" y="1051628"/>
                      <a:pt x="3677034" y="1057266"/>
                      <a:pt x="3672877" y="1061424"/>
                    </a:cubicBezTo>
                    <a:cubicBezTo>
                      <a:pt x="3668719" y="1065581"/>
                      <a:pt x="3663081" y="1067916"/>
                      <a:pt x="3657202" y="1067916"/>
                    </a:cubicBezTo>
                    <a:lnTo>
                      <a:pt x="22167" y="1067916"/>
                    </a:lnTo>
                    <a:cubicBezTo>
                      <a:pt x="16288" y="1067916"/>
                      <a:pt x="10650" y="1065581"/>
                      <a:pt x="6493" y="1061424"/>
                    </a:cubicBezTo>
                    <a:cubicBezTo>
                      <a:pt x="2335" y="1057266"/>
                      <a:pt x="0" y="1051628"/>
                      <a:pt x="0" y="1045749"/>
                    </a:cubicBezTo>
                    <a:lnTo>
                      <a:pt x="0" y="22167"/>
                    </a:lnTo>
                    <a:cubicBezTo>
                      <a:pt x="0" y="16288"/>
                      <a:pt x="2335" y="10650"/>
                      <a:pt x="6493" y="6493"/>
                    </a:cubicBezTo>
                    <a:cubicBezTo>
                      <a:pt x="10650" y="2335"/>
                      <a:pt x="16288" y="0"/>
                      <a:pt x="2216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3679369" cy="11060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659"/>
                  </a:lnSpc>
                </a:pPr>
              </a:p>
              <a:p>
                <a:pPr algn="l">
                  <a:lnSpc>
                    <a:spcPts val="2659"/>
                  </a:lnSpc>
                </a:pPr>
              </a:p>
              <a:p>
                <a:pPr algn="l">
                  <a:lnSpc>
                    <a:spcPts val="2659"/>
                  </a:lnSpc>
                </a:pPr>
              </a:p>
              <a:p>
                <a:pPr algn="l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221828" y="1338659"/>
              <a:ext cx="11443067" cy="40523"/>
              <a:chOff x="0" y="0"/>
              <a:chExt cx="3542042" cy="1254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542042" cy="12543"/>
              </a:xfrm>
              <a:custGeom>
                <a:avLst/>
                <a:gdLst/>
                <a:ahLst/>
                <a:cxnLst/>
                <a:rect r="r" b="b" t="t" l="l"/>
                <a:pathLst>
                  <a:path h="12543" w="3542042">
                    <a:moveTo>
                      <a:pt x="0" y="0"/>
                    </a:moveTo>
                    <a:lnTo>
                      <a:pt x="3542042" y="0"/>
                    </a:lnTo>
                    <a:lnTo>
                      <a:pt x="3542042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364735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3542042" cy="506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74758" y="686094"/>
              <a:ext cx="10716284" cy="547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364735"/>
                  </a:solidFill>
                  <a:latin typeface="Lora Bold"/>
                  <a:ea typeface="Lora Bold"/>
                  <a:cs typeface="Lora Bold"/>
                  <a:sym typeface="Lora Bold"/>
                </a:rPr>
                <a:t>What it does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326409" y="1569748"/>
              <a:ext cx="10362381" cy="15250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71995" indent="-185998" lvl="1">
                <a:lnSpc>
                  <a:spcPts val="241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722">
                  <a:solidFill>
                    <a:srgbClr val="36473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pers</a:t>
              </a:r>
              <a:r>
                <a:rPr lang="en-US" b="true" sz="1722">
                  <a:solidFill>
                    <a:srgbClr val="36473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onal readin</a:t>
              </a:r>
              <a:r>
                <a:rPr lang="en-US" b="true" sz="1722">
                  <a:solidFill>
                    <a:srgbClr val="36473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 list for each member</a:t>
              </a:r>
            </a:p>
            <a:p>
              <a:pPr algn="l" marL="371995" indent="-185998" lvl="1">
                <a:lnSpc>
                  <a:spcPts val="241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722">
                  <a:solidFill>
                    <a:srgbClr val="36473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Track books you want to read, are reading, or hav</a:t>
              </a:r>
              <a:r>
                <a:rPr lang="en-US" b="true" sz="1722">
                  <a:solidFill>
                    <a:srgbClr val="36473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 fin</a:t>
              </a:r>
              <a:r>
                <a:rPr lang="en-US" b="true" sz="1722">
                  <a:solidFill>
                    <a:srgbClr val="36473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ished</a:t>
              </a:r>
            </a:p>
            <a:p>
              <a:pPr algn="l" marL="371995" indent="-185998" lvl="1">
                <a:lnSpc>
                  <a:spcPts val="241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722">
                  <a:solidFill>
                    <a:srgbClr val="36473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Add dates, a rating, a review and a private note</a:t>
              </a:r>
            </a:p>
            <a:p>
              <a:pPr algn="l">
                <a:lnSpc>
                  <a:spcPts val="19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28958" y="4553382"/>
            <a:ext cx="8915042" cy="2587541"/>
            <a:chOff x="0" y="0"/>
            <a:chExt cx="11886723" cy="3450054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1886723" cy="3450054"/>
              <a:chOff x="0" y="0"/>
              <a:chExt cx="3679369" cy="106791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679369" cy="1067916"/>
              </a:xfrm>
              <a:custGeom>
                <a:avLst/>
                <a:gdLst/>
                <a:ahLst/>
                <a:cxnLst/>
                <a:rect r="r" b="b" t="t" l="l"/>
                <a:pathLst>
                  <a:path h="1067916" w="3679369">
                    <a:moveTo>
                      <a:pt x="22167" y="0"/>
                    </a:moveTo>
                    <a:lnTo>
                      <a:pt x="3657202" y="0"/>
                    </a:lnTo>
                    <a:cubicBezTo>
                      <a:pt x="3663081" y="0"/>
                      <a:pt x="3668719" y="2335"/>
                      <a:pt x="3672877" y="6493"/>
                    </a:cubicBezTo>
                    <a:cubicBezTo>
                      <a:pt x="3677034" y="10650"/>
                      <a:pt x="3679369" y="16288"/>
                      <a:pt x="3679369" y="22167"/>
                    </a:cubicBezTo>
                    <a:lnTo>
                      <a:pt x="3679369" y="1045749"/>
                    </a:lnTo>
                    <a:cubicBezTo>
                      <a:pt x="3679369" y="1051628"/>
                      <a:pt x="3677034" y="1057266"/>
                      <a:pt x="3672877" y="1061424"/>
                    </a:cubicBezTo>
                    <a:cubicBezTo>
                      <a:pt x="3668719" y="1065581"/>
                      <a:pt x="3663081" y="1067916"/>
                      <a:pt x="3657202" y="1067916"/>
                    </a:cubicBezTo>
                    <a:lnTo>
                      <a:pt x="22167" y="1067916"/>
                    </a:lnTo>
                    <a:cubicBezTo>
                      <a:pt x="16288" y="1067916"/>
                      <a:pt x="10650" y="1065581"/>
                      <a:pt x="6493" y="1061424"/>
                    </a:cubicBezTo>
                    <a:cubicBezTo>
                      <a:pt x="2335" y="1057266"/>
                      <a:pt x="0" y="1051628"/>
                      <a:pt x="0" y="1045749"/>
                    </a:cubicBezTo>
                    <a:lnTo>
                      <a:pt x="0" y="22167"/>
                    </a:lnTo>
                    <a:cubicBezTo>
                      <a:pt x="0" y="16288"/>
                      <a:pt x="2335" y="10650"/>
                      <a:pt x="6493" y="6493"/>
                    </a:cubicBezTo>
                    <a:cubicBezTo>
                      <a:pt x="10650" y="2335"/>
                      <a:pt x="16288" y="0"/>
                      <a:pt x="2216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3679369" cy="11060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659"/>
                  </a:lnSpc>
                </a:pPr>
              </a:p>
              <a:p>
                <a:pPr algn="l">
                  <a:lnSpc>
                    <a:spcPts val="2659"/>
                  </a:lnSpc>
                </a:pPr>
              </a:p>
              <a:p>
                <a:pPr algn="l">
                  <a:lnSpc>
                    <a:spcPts val="2659"/>
                  </a:lnSpc>
                </a:pPr>
              </a:p>
              <a:p>
                <a:pPr algn="l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221828" y="1338659"/>
              <a:ext cx="11443067" cy="40523"/>
              <a:chOff x="0" y="0"/>
              <a:chExt cx="3542042" cy="1254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542042" cy="12543"/>
              </a:xfrm>
              <a:custGeom>
                <a:avLst/>
                <a:gdLst/>
                <a:ahLst/>
                <a:cxnLst/>
                <a:rect r="r" b="b" t="t" l="l"/>
                <a:pathLst>
                  <a:path h="12543" w="3542042">
                    <a:moveTo>
                      <a:pt x="0" y="0"/>
                    </a:moveTo>
                    <a:lnTo>
                      <a:pt x="3542042" y="0"/>
                    </a:lnTo>
                    <a:lnTo>
                      <a:pt x="3542042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364735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3542042" cy="506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74758" y="686094"/>
              <a:ext cx="10716284" cy="547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364735"/>
                  </a:solidFill>
                  <a:latin typeface="Lora Bold"/>
                  <a:ea typeface="Lora Bold"/>
                  <a:cs typeface="Lora Bold"/>
                  <a:sym typeface="Lora Bold"/>
                </a:rPr>
                <a:t>How it works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326409" y="1569748"/>
              <a:ext cx="10362381" cy="15250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71995" indent="-185998" lvl="1">
                <a:lnSpc>
                  <a:spcPts val="241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722">
                  <a:solidFill>
                    <a:srgbClr val="36473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</a:t>
              </a:r>
              <a:r>
                <a:rPr lang="en-US" b="true" sz="1722">
                  <a:solidFill>
                    <a:srgbClr val="36473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our endpoint</a:t>
              </a:r>
              <a:r>
                <a:rPr lang="en-US" b="true" sz="1722">
                  <a:solidFill>
                    <a:srgbClr val="36473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s: GET, POST, PUT and DELETE</a:t>
              </a:r>
            </a:p>
            <a:p>
              <a:pPr algn="l" marL="371995" indent="-185998" lvl="1">
                <a:lnSpc>
                  <a:spcPts val="241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722">
                  <a:solidFill>
                    <a:srgbClr val="36473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One stored procedure: ral_Us</a:t>
              </a:r>
              <a:r>
                <a:rPr lang="en-US" b="true" sz="1722">
                  <a:solidFill>
                    <a:srgbClr val="36473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erBook</a:t>
              </a:r>
              <a:r>
                <a:rPr lang="en-US" b="true" sz="1722">
                  <a:solidFill>
                    <a:srgbClr val="36473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s_CRUD_JSON</a:t>
              </a:r>
            </a:p>
            <a:p>
              <a:pPr algn="l" marL="371995" indent="-185998" lvl="1">
                <a:lnSpc>
                  <a:spcPts val="241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722">
                  <a:solidFill>
                    <a:srgbClr val="36473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Ten</a:t>
              </a:r>
              <a:r>
                <a:rPr lang="en-US" b="true" sz="1722">
                  <a:solidFill>
                    <a:srgbClr val="36473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ant ID and Member ID come only from the JWT</a:t>
              </a:r>
            </a:p>
            <a:p>
              <a:pPr algn="l">
                <a:lnSpc>
                  <a:spcPts val="19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28958" y="7511321"/>
            <a:ext cx="8915042" cy="2587541"/>
            <a:chOff x="0" y="0"/>
            <a:chExt cx="11886723" cy="3450054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1886723" cy="3450054"/>
              <a:chOff x="0" y="0"/>
              <a:chExt cx="3679369" cy="1067916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3679369" cy="1067916"/>
              </a:xfrm>
              <a:custGeom>
                <a:avLst/>
                <a:gdLst/>
                <a:ahLst/>
                <a:cxnLst/>
                <a:rect r="r" b="b" t="t" l="l"/>
                <a:pathLst>
                  <a:path h="1067916" w="3679369">
                    <a:moveTo>
                      <a:pt x="22167" y="0"/>
                    </a:moveTo>
                    <a:lnTo>
                      <a:pt x="3657202" y="0"/>
                    </a:lnTo>
                    <a:cubicBezTo>
                      <a:pt x="3663081" y="0"/>
                      <a:pt x="3668719" y="2335"/>
                      <a:pt x="3672877" y="6493"/>
                    </a:cubicBezTo>
                    <a:cubicBezTo>
                      <a:pt x="3677034" y="10650"/>
                      <a:pt x="3679369" y="16288"/>
                      <a:pt x="3679369" y="22167"/>
                    </a:cubicBezTo>
                    <a:lnTo>
                      <a:pt x="3679369" y="1045749"/>
                    </a:lnTo>
                    <a:cubicBezTo>
                      <a:pt x="3679369" y="1051628"/>
                      <a:pt x="3677034" y="1057266"/>
                      <a:pt x="3672877" y="1061424"/>
                    </a:cubicBezTo>
                    <a:cubicBezTo>
                      <a:pt x="3668719" y="1065581"/>
                      <a:pt x="3663081" y="1067916"/>
                      <a:pt x="3657202" y="1067916"/>
                    </a:cubicBezTo>
                    <a:lnTo>
                      <a:pt x="22167" y="1067916"/>
                    </a:lnTo>
                    <a:cubicBezTo>
                      <a:pt x="16288" y="1067916"/>
                      <a:pt x="10650" y="1065581"/>
                      <a:pt x="6493" y="1061424"/>
                    </a:cubicBezTo>
                    <a:cubicBezTo>
                      <a:pt x="2335" y="1057266"/>
                      <a:pt x="0" y="1051628"/>
                      <a:pt x="0" y="1045749"/>
                    </a:cubicBezTo>
                    <a:lnTo>
                      <a:pt x="0" y="22167"/>
                    </a:lnTo>
                    <a:cubicBezTo>
                      <a:pt x="0" y="16288"/>
                      <a:pt x="2335" y="10650"/>
                      <a:pt x="6493" y="6493"/>
                    </a:cubicBezTo>
                    <a:cubicBezTo>
                      <a:pt x="10650" y="2335"/>
                      <a:pt x="16288" y="0"/>
                      <a:pt x="2216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3679369" cy="11060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659"/>
                  </a:lnSpc>
                </a:pPr>
              </a:p>
              <a:p>
                <a:pPr algn="l">
                  <a:lnSpc>
                    <a:spcPts val="2659"/>
                  </a:lnSpc>
                </a:pPr>
              </a:p>
              <a:p>
                <a:pPr algn="l">
                  <a:lnSpc>
                    <a:spcPts val="2659"/>
                  </a:lnSpc>
                </a:pPr>
              </a:p>
              <a:p>
                <a:pPr algn="l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221828" y="1338659"/>
              <a:ext cx="11443067" cy="40523"/>
              <a:chOff x="0" y="0"/>
              <a:chExt cx="3542042" cy="1254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3542042" cy="12543"/>
              </a:xfrm>
              <a:custGeom>
                <a:avLst/>
                <a:gdLst/>
                <a:ahLst/>
                <a:cxnLst/>
                <a:rect r="r" b="b" t="t" l="l"/>
                <a:pathLst>
                  <a:path h="12543" w="3542042">
                    <a:moveTo>
                      <a:pt x="0" y="0"/>
                    </a:moveTo>
                    <a:lnTo>
                      <a:pt x="3542042" y="0"/>
                    </a:lnTo>
                    <a:lnTo>
                      <a:pt x="3542042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364735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3542042" cy="506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74758" y="686094"/>
              <a:ext cx="10716284" cy="547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364735"/>
                  </a:solidFill>
                  <a:latin typeface="Lora Bold"/>
                  <a:ea typeface="Lora Bold"/>
                  <a:cs typeface="Lora Bold"/>
                  <a:sym typeface="Lora Bold"/>
                </a:rPr>
                <a:t>Keeps data safe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326409" y="1569748"/>
              <a:ext cx="10362381" cy="15250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71995" indent="-185998" lvl="1">
                <a:lnSpc>
                  <a:spcPts val="241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722">
                  <a:solidFill>
                    <a:srgbClr val="36473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Each acti</a:t>
              </a:r>
              <a:r>
                <a:rPr lang="en-US" b="true" sz="1722">
                  <a:solidFill>
                    <a:srgbClr val="36473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on needs it</a:t>
              </a:r>
              <a:r>
                <a:rPr lang="en-US" b="true" sz="1722">
                  <a:solidFill>
                    <a:srgbClr val="36473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 own permission</a:t>
              </a:r>
            </a:p>
            <a:p>
              <a:pPr algn="l" marL="371995" indent="-185998" lvl="1">
                <a:lnSpc>
                  <a:spcPts val="241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722">
                  <a:solidFill>
                    <a:srgbClr val="36473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One entry per book, and the b</a:t>
              </a:r>
              <a:r>
                <a:rPr lang="en-US" b="true" sz="1722">
                  <a:solidFill>
                    <a:srgbClr val="36473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ook mu</a:t>
              </a:r>
              <a:r>
                <a:rPr lang="en-US" b="true" sz="1722">
                  <a:solidFill>
                    <a:srgbClr val="36473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 </a:t>
              </a:r>
              <a:r>
                <a:rPr lang="en-US" b="true" sz="1722">
                  <a:solidFill>
                    <a:srgbClr val="36473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exis</a:t>
              </a:r>
              <a:r>
                <a:rPr lang="en-US" b="true" sz="1722">
                  <a:solidFill>
                    <a:srgbClr val="36473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 in the catalogue</a:t>
              </a:r>
            </a:p>
            <a:p>
              <a:pPr algn="l" marL="371995" indent="-185998" lvl="1">
                <a:lnSpc>
                  <a:spcPts val="241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722">
                  <a:solidFill>
                    <a:srgbClr val="36473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Soft delete keeps the history</a:t>
              </a:r>
            </a:p>
            <a:p>
              <a:pPr algn="l">
                <a:lnSpc>
                  <a:spcPts val="1965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636" y="514985"/>
            <a:ext cx="6167530" cy="704503"/>
            <a:chOff x="0" y="0"/>
            <a:chExt cx="1624370" cy="185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4370" cy="185548"/>
            </a:xfrm>
            <a:custGeom>
              <a:avLst/>
              <a:gdLst/>
              <a:ahLst/>
              <a:cxnLst/>
              <a:rect r="r" b="b" t="t" l="l"/>
              <a:pathLst>
                <a:path h="185548" w="1624370">
                  <a:moveTo>
                    <a:pt x="0" y="0"/>
                  </a:moveTo>
                  <a:lnTo>
                    <a:pt x="1624370" y="0"/>
                  </a:lnTo>
                  <a:lnTo>
                    <a:pt x="1624370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24370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28958" y="551959"/>
            <a:ext cx="669746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Core Module Implementation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32167" y="372110"/>
            <a:ext cx="1254265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10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8958" y="1484931"/>
            <a:ext cx="6095282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2B45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Book Lookup / Scan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28958" y="2398697"/>
            <a:ext cx="9214014" cy="7511847"/>
            <a:chOff x="0" y="0"/>
            <a:chExt cx="2426736" cy="19784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26736" cy="1978429"/>
            </a:xfrm>
            <a:custGeom>
              <a:avLst/>
              <a:gdLst/>
              <a:ahLst/>
              <a:cxnLst/>
              <a:rect r="r" b="b" t="t" l="l"/>
              <a:pathLst>
                <a:path h="1978429" w="2426736">
                  <a:moveTo>
                    <a:pt x="33609" y="0"/>
                  </a:moveTo>
                  <a:lnTo>
                    <a:pt x="2393127" y="0"/>
                  </a:lnTo>
                  <a:cubicBezTo>
                    <a:pt x="2411689" y="0"/>
                    <a:pt x="2426736" y="15047"/>
                    <a:pt x="2426736" y="33609"/>
                  </a:cubicBezTo>
                  <a:lnTo>
                    <a:pt x="2426736" y="1944819"/>
                  </a:lnTo>
                  <a:cubicBezTo>
                    <a:pt x="2426736" y="1963381"/>
                    <a:pt x="2411689" y="1978429"/>
                    <a:pt x="2393127" y="1978429"/>
                  </a:cubicBezTo>
                  <a:lnTo>
                    <a:pt x="33609" y="1978429"/>
                  </a:lnTo>
                  <a:cubicBezTo>
                    <a:pt x="15047" y="1978429"/>
                    <a:pt x="0" y="1963381"/>
                    <a:pt x="0" y="1944819"/>
                  </a:cubicBezTo>
                  <a:lnTo>
                    <a:pt x="0" y="33609"/>
                  </a:lnTo>
                  <a:cubicBezTo>
                    <a:pt x="0" y="15047"/>
                    <a:pt x="15047" y="0"/>
                    <a:pt x="336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426736" cy="2016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02998" y="2608560"/>
            <a:ext cx="3584079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647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 Functionality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3385" y="3222914"/>
            <a:ext cx="8306746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64735"/>
                </a:solidFill>
                <a:latin typeface="Lora"/>
                <a:ea typeface="Lora"/>
                <a:cs typeface="Lora"/>
                <a:sym typeface="Lora"/>
              </a:rPr>
              <a:t>Provides a central catalogue for organising book information and associated authors.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00908" y="4137466"/>
            <a:ext cx="8870114" cy="47625"/>
            <a:chOff x="0" y="0"/>
            <a:chExt cx="2336162" cy="125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36162" cy="12543"/>
            </a:xfrm>
            <a:custGeom>
              <a:avLst/>
              <a:gdLst/>
              <a:ahLst/>
              <a:cxnLst/>
              <a:rect r="r" b="b" t="t" l="l"/>
              <a:pathLst>
                <a:path h="12543" w="2336162">
                  <a:moveTo>
                    <a:pt x="0" y="0"/>
                  </a:moveTo>
                  <a:lnTo>
                    <a:pt x="2336162" y="0"/>
                  </a:lnTo>
                  <a:lnTo>
                    <a:pt x="233616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33616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40549" y="4385116"/>
            <a:ext cx="8032418" cy="4671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647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</a:t>
            </a:r>
            <a:r>
              <a:rPr lang="en-US" b="true" sz="2699">
                <a:solidFill>
                  <a:srgbClr val="3647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ose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364735"/>
                </a:solidFill>
                <a:latin typeface="Canva Sans"/>
                <a:ea typeface="Canva Sans"/>
                <a:cs typeface="Canva Sans"/>
                <a:sym typeface="Canva Sans"/>
              </a:rPr>
              <a:t>Locat</a:t>
            </a:r>
            <a:r>
              <a:rPr lang="en-US" sz="2699">
                <a:solidFill>
                  <a:srgbClr val="364735"/>
                </a:solidFill>
                <a:latin typeface="Canva Sans"/>
                <a:ea typeface="Canva Sans"/>
                <a:cs typeface="Canva Sans"/>
                <a:sym typeface="Canva Sans"/>
              </a:rPr>
              <a:t>e books by title, author or ISBN.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647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</a:t>
            </a:r>
            <a:r>
              <a:rPr lang="en-US" b="true" sz="2699">
                <a:solidFill>
                  <a:srgbClr val="3647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nc</a:t>
            </a:r>
            <a:r>
              <a:rPr lang="en-US" b="true" sz="2699">
                <a:solidFill>
                  <a:srgbClr val="3647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tional</a:t>
            </a:r>
            <a:r>
              <a:rPr lang="en-US" b="true" sz="2699">
                <a:solidFill>
                  <a:srgbClr val="3647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ity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364735"/>
                </a:solidFill>
                <a:latin typeface="Canva Sans"/>
                <a:ea typeface="Canva Sans"/>
                <a:cs typeface="Canva Sans"/>
                <a:sym typeface="Canva Sans"/>
              </a:rPr>
              <a:t>ISBN-bas</a:t>
            </a:r>
            <a:r>
              <a:rPr lang="en-US" sz="2699">
                <a:solidFill>
                  <a:srgbClr val="364735"/>
                </a:solidFill>
                <a:latin typeface="Canva Sans"/>
                <a:ea typeface="Canva Sans"/>
                <a:cs typeface="Canva Sans"/>
                <a:sym typeface="Canva Sans"/>
              </a:rPr>
              <a:t>ed lookup and scan operations.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647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</a:t>
            </a:r>
            <a:r>
              <a:rPr lang="en-US" b="true" sz="2699">
                <a:solidFill>
                  <a:srgbClr val="3647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entation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364735"/>
                </a:solidFill>
                <a:latin typeface="Canva Sans"/>
                <a:ea typeface="Canva Sans"/>
                <a:cs typeface="Canva Sans"/>
                <a:sym typeface="Canva Sans"/>
              </a:rPr>
              <a:t>Stored procedure support for recording lookup activity.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636" y="514985"/>
            <a:ext cx="6167530" cy="704503"/>
            <a:chOff x="0" y="0"/>
            <a:chExt cx="1624370" cy="185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4370" cy="185548"/>
            </a:xfrm>
            <a:custGeom>
              <a:avLst/>
              <a:gdLst/>
              <a:ahLst/>
              <a:cxnLst/>
              <a:rect r="r" b="b" t="t" l="l"/>
              <a:pathLst>
                <a:path h="185548" w="1624370">
                  <a:moveTo>
                    <a:pt x="0" y="0"/>
                  </a:moveTo>
                  <a:lnTo>
                    <a:pt x="1624370" y="0"/>
                  </a:lnTo>
                  <a:lnTo>
                    <a:pt x="1624370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24370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28958" y="2331528"/>
            <a:ext cx="10090943" cy="3284924"/>
          </a:xfrm>
          <a:custGeom>
            <a:avLst/>
            <a:gdLst/>
            <a:ahLst/>
            <a:cxnLst/>
            <a:rect r="r" b="b" t="t" l="l"/>
            <a:pathLst>
              <a:path h="3284924" w="10090943">
                <a:moveTo>
                  <a:pt x="0" y="0"/>
                </a:moveTo>
                <a:lnTo>
                  <a:pt x="10090943" y="0"/>
                </a:lnTo>
                <a:lnTo>
                  <a:pt x="10090943" y="3284925"/>
                </a:lnTo>
                <a:lnTo>
                  <a:pt x="0" y="3284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8958" y="6994547"/>
            <a:ext cx="10090943" cy="1535112"/>
          </a:xfrm>
          <a:custGeom>
            <a:avLst/>
            <a:gdLst/>
            <a:ahLst/>
            <a:cxnLst/>
            <a:rect r="r" b="b" t="t" l="l"/>
            <a:pathLst>
              <a:path h="1535112" w="10090943">
                <a:moveTo>
                  <a:pt x="0" y="0"/>
                </a:moveTo>
                <a:lnTo>
                  <a:pt x="10090943" y="0"/>
                </a:lnTo>
                <a:lnTo>
                  <a:pt x="10090943" y="1535112"/>
                </a:lnTo>
                <a:lnTo>
                  <a:pt x="0" y="1535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33213" y="2331528"/>
            <a:ext cx="5194422" cy="1793312"/>
          </a:xfrm>
          <a:custGeom>
            <a:avLst/>
            <a:gdLst/>
            <a:ahLst/>
            <a:cxnLst/>
            <a:rect r="r" b="b" t="t" l="l"/>
            <a:pathLst>
              <a:path h="1793312" w="5194422">
                <a:moveTo>
                  <a:pt x="0" y="0"/>
                </a:moveTo>
                <a:lnTo>
                  <a:pt x="5194422" y="0"/>
                </a:lnTo>
                <a:lnTo>
                  <a:pt x="5194422" y="1793313"/>
                </a:lnTo>
                <a:lnTo>
                  <a:pt x="0" y="1793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833213" y="6675650"/>
            <a:ext cx="5194422" cy="1854009"/>
          </a:xfrm>
          <a:custGeom>
            <a:avLst/>
            <a:gdLst/>
            <a:ahLst/>
            <a:cxnLst/>
            <a:rect r="r" b="b" t="t" l="l"/>
            <a:pathLst>
              <a:path h="1854009" w="5194422">
                <a:moveTo>
                  <a:pt x="0" y="0"/>
                </a:moveTo>
                <a:lnTo>
                  <a:pt x="5194422" y="0"/>
                </a:lnTo>
                <a:lnTo>
                  <a:pt x="5194422" y="1854009"/>
                </a:lnTo>
                <a:lnTo>
                  <a:pt x="0" y="18540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8958" y="551959"/>
            <a:ext cx="669746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System Validation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32167" y="372110"/>
            <a:ext cx="1254265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12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8958" y="1541588"/>
            <a:ext cx="367760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Testing &amp; Implementation Status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0130" y="5763184"/>
            <a:ext cx="10119771" cy="692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2"/>
              </a:lnSpc>
              <a:spcBef>
                <a:spcPct val="0"/>
              </a:spcBef>
            </a:pPr>
            <a:r>
              <a:rPr lang="en-US" sz="1994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The API accepts a valid UserB</a:t>
            </a:r>
            <a:r>
              <a:rPr lang="en-US" sz="1994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ookID and a JSON response containing the updated reading details. It updates the existing user book record in the database.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701911" y="8710554"/>
            <a:ext cx="10136243" cy="41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8"/>
              </a:lnSpc>
              <a:spcBef>
                <a:spcPct val="0"/>
              </a:spcBef>
            </a:pPr>
            <a:r>
              <a:rPr lang="en-US" sz="2477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The API returns error 401 when no valid JWT is provided.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45773" y="4862225"/>
            <a:ext cx="196453" cy="50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8"/>
              </a:lnSpc>
              <a:spcBef>
                <a:spcPct val="0"/>
              </a:spcBef>
            </a:pPr>
            <a:r>
              <a:rPr lang="en-US" sz="297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47333" y="5020280"/>
            <a:ext cx="5566182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The endpoint successfully responds and returns the health status and readiness status.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636" y="514985"/>
            <a:ext cx="6167530" cy="704503"/>
            <a:chOff x="0" y="0"/>
            <a:chExt cx="1624370" cy="185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4370" cy="185548"/>
            </a:xfrm>
            <a:custGeom>
              <a:avLst/>
              <a:gdLst/>
              <a:ahLst/>
              <a:cxnLst/>
              <a:rect r="r" b="b" t="t" l="l"/>
              <a:pathLst>
                <a:path h="185548" w="1624370">
                  <a:moveTo>
                    <a:pt x="0" y="0"/>
                  </a:moveTo>
                  <a:lnTo>
                    <a:pt x="1624370" y="0"/>
                  </a:lnTo>
                  <a:lnTo>
                    <a:pt x="1624370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24370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728667" y="2226753"/>
            <a:ext cx="12830666" cy="721725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28958" y="551959"/>
            <a:ext cx="669746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Live System Walkthrough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32167" y="372110"/>
            <a:ext cx="1254265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13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6915" y="1541588"/>
            <a:ext cx="374168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ReadAlert System Demonstration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636" y="514985"/>
            <a:ext cx="4599961" cy="704503"/>
            <a:chOff x="0" y="0"/>
            <a:chExt cx="1211512" cy="185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1512" cy="185548"/>
            </a:xfrm>
            <a:custGeom>
              <a:avLst/>
              <a:gdLst/>
              <a:ahLst/>
              <a:cxnLst/>
              <a:rect r="r" b="b" t="t" l="l"/>
              <a:pathLst>
                <a:path h="185548" w="1211512">
                  <a:moveTo>
                    <a:pt x="0" y="0"/>
                  </a:moveTo>
                  <a:lnTo>
                    <a:pt x="1211512" y="0"/>
                  </a:lnTo>
                  <a:lnTo>
                    <a:pt x="1211512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11512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9402" y="1711549"/>
            <a:ext cx="8523846" cy="6892523"/>
            <a:chOff x="0" y="0"/>
            <a:chExt cx="2244964" cy="18153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4964" cy="1815315"/>
            </a:xfrm>
            <a:custGeom>
              <a:avLst/>
              <a:gdLst/>
              <a:ahLst/>
              <a:cxnLst/>
              <a:rect r="r" b="b" t="t" l="l"/>
              <a:pathLst>
                <a:path h="1815315" w="2244964">
                  <a:moveTo>
                    <a:pt x="17257" y="0"/>
                  </a:moveTo>
                  <a:lnTo>
                    <a:pt x="2227707" y="0"/>
                  </a:lnTo>
                  <a:cubicBezTo>
                    <a:pt x="2232284" y="0"/>
                    <a:pt x="2236673" y="1818"/>
                    <a:pt x="2239909" y="5054"/>
                  </a:cubicBezTo>
                  <a:cubicBezTo>
                    <a:pt x="2243146" y="8291"/>
                    <a:pt x="2244964" y="12680"/>
                    <a:pt x="2244964" y="17257"/>
                  </a:cubicBezTo>
                  <a:lnTo>
                    <a:pt x="2244964" y="1798057"/>
                  </a:lnTo>
                  <a:cubicBezTo>
                    <a:pt x="2244964" y="1807588"/>
                    <a:pt x="2237237" y="1815315"/>
                    <a:pt x="2227707" y="1815315"/>
                  </a:cubicBezTo>
                  <a:lnTo>
                    <a:pt x="17257" y="1815315"/>
                  </a:lnTo>
                  <a:cubicBezTo>
                    <a:pt x="7726" y="1815315"/>
                    <a:pt x="0" y="1807588"/>
                    <a:pt x="0" y="1798057"/>
                  </a:cubicBezTo>
                  <a:lnTo>
                    <a:pt x="0" y="17257"/>
                  </a:lnTo>
                  <a:cubicBezTo>
                    <a:pt x="0" y="7726"/>
                    <a:pt x="7726" y="0"/>
                    <a:pt x="17257" y="0"/>
                  </a:cubicBezTo>
                  <a:close/>
                </a:path>
              </a:pathLst>
            </a:custGeom>
            <a:solidFill>
              <a:srgbClr val="819C7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44964" cy="18534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605530" y="1273810"/>
            <a:ext cx="3954204" cy="7389824"/>
          </a:xfrm>
          <a:custGeom>
            <a:avLst/>
            <a:gdLst/>
            <a:ahLst/>
            <a:cxnLst/>
            <a:rect r="r" b="b" t="t" l="l"/>
            <a:pathLst>
              <a:path h="7389824" w="3954204">
                <a:moveTo>
                  <a:pt x="0" y="0"/>
                </a:moveTo>
                <a:lnTo>
                  <a:pt x="3954204" y="0"/>
                </a:lnTo>
                <a:lnTo>
                  <a:pt x="3954204" y="7389824"/>
                </a:lnTo>
                <a:lnTo>
                  <a:pt x="0" y="738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8958" y="551959"/>
            <a:ext cx="730258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Technical Challenges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32167" y="372110"/>
            <a:ext cx="1254265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14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6287" y="2492830"/>
            <a:ext cx="7750076" cy="528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7"/>
              </a:lnSpc>
              <a:spcBef>
                <a:spcPct val="0"/>
              </a:spcBef>
            </a:pPr>
            <a:r>
              <a:rPr lang="en-US" b="true" sz="203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Project scope adjustments</a:t>
            </a:r>
          </a:p>
          <a:p>
            <a:pPr algn="l">
              <a:lnSpc>
                <a:spcPts val="2847"/>
              </a:lnSpc>
              <a:spcBef>
                <a:spcPct val="0"/>
              </a:spcBef>
            </a:pPr>
            <a:r>
              <a:rPr lang="en-US" sz="203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Revised scope received at the end of Week 5</a:t>
            </a:r>
          </a:p>
          <a:p>
            <a:pPr algn="l">
              <a:lnSpc>
                <a:spcPts val="2847"/>
              </a:lnSpc>
              <a:spcBef>
                <a:spcPct val="0"/>
              </a:spcBef>
            </a:pPr>
          </a:p>
          <a:p>
            <a:pPr algn="l">
              <a:lnSpc>
                <a:spcPts val="2847"/>
              </a:lnSpc>
              <a:spcBef>
                <a:spcPct val="0"/>
              </a:spcBef>
            </a:pPr>
            <a:r>
              <a:rPr lang="en-US" b="true" sz="203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Technical learning and development</a:t>
            </a:r>
          </a:p>
          <a:p>
            <a:pPr algn="l">
              <a:lnSpc>
                <a:spcPts val="2847"/>
              </a:lnSpc>
              <a:spcBef>
                <a:spcPct val="0"/>
              </a:spcBef>
            </a:pPr>
            <a:r>
              <a:rPr lang="en-US" sz="203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Diverse academic backgrounds and experience levels</a:t>
            </a:r>
          </a:p>
          <a:p>
            <a:pPr algn="l">
              <a:lnSpc>
                <a:spcPts val="2847"/>
              </a:lnSpc>
              <a:spcBef>
                <a:spcPct val="0"/>
              </a:spcBef>
            </a:pPr>
          </a:p>
          <a:p>
            <a:pPr algn="l">
              <a:lnSpc>
                <a:spcPts val="2847"/>
              </a:lnSpc>
              <a:spcBef>
                <a:spcPct val="0"/>
              </a:spcBef>
            </a:pPr>
            <a:r>
              <a:rPr lang="en-US" b="true" sz="203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Frontend integration</a:t>
            </a:r>
          </a:p>
          <a:p>
            <a:pPr algn="l">
              <a:lnSpc>
                <a:spcPts val="2847"/>
              </a:lnSpc>
              <a:spcBef>
                <a:spcPct val="0"/>
              </a:spcBef>
            </a:pPr>
            <a:r>
              <a:rPr lang="en-US" sz="203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Aligning independently developed modules and file structures</a:t>
            </a:r>
          </a:p>
          <a:p>
            <a:pPr algn="l">
              <a:lnSpc>
                <a:spcPts val="2847"/>
              </a:lnSpc>
              <a:spcBef>
                <a:spcPct val="0"/>
              </a:spcBef>
            </a:pPr>
          </a:p>
          <a:p>
            <a:pPr algn="l">
              <a:lnSpc>
                <a:spcPts val="2847"/>
              </a:lnSpc>
              <a:spcBef>
                <a:spcPct val="0"/>
              </a:spcBef>
            </a:pPr>
            <a:r>
              <a:rPr lang="en-US" b="true" sz="203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Feedback and coordination</a:t>
            </a:r>
          </a:p>
          <a:p>
            <a:pPr algn="l">
              <a:lnSpc>
                <a:spcPts val="2847"/>
              </a:lnSpc>
              <a:spcBef>
                <a:spcPct val="0"/>
              </a:spcBef>
            </a:pPr>
            <a:r>
              <a:rPr lang="en-US" sz="203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Navigating technical clarifications and dependencies</a:t>
            </a:r>
          </a:p>
          <a:p>
            <a:pPr algn="l">
              <a:lnSpc>
                <a:spcPts val="2847"/>
              </a:lnSpc>
              <a:spcBef>
                <a:spcPct val="0"/>
              </a:spcBef>
            </a:pPr>
          </a:p>
          <a:p>
            <a:pPr algn="l">
              <a:lnSpc>
                <a:spcPts val="2847"/>
              </a:lnSpc>
              <a:spcBef>
                <a:spcPct val="0"/>
              </a:spcBef>
            </a:pPr>
            <a:r>
              <a:rPr lang="en-US" b="true" sz="203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Opportunities for further development</a:t>
            </a:r>
          </a:p>
          <a:p>
            <a:pPr algn="l">
              <a:lnSpc>
                <a:spcPts val="2847"/>
              </a:lnSpc>
              <a:spcBef>
                <a:spcPct val="0"/>
              </a:spcBef>
            </a:pPr>
            <a:r>
              <a:rPr lang="en-US" sz="203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Additional integration testing, refinement and security validation</a:t>
            </a:r>
          </a:p>
          <a:p>
            <a:pPr algn="l">
              <a:lnSpc>
                <a:spcPts val="284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636" y="514985"/>
            <a:ext cx="4599961" cy="704503"/>
            <a:chOff x="0" y="0"/>
            <a:chExt cx="1211512" cy="185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1512" cy="185548"/>
            </a:xfrm>
            <a:custGeom>
              <a:avLst/>
              <a:gdLst/>
              <a:ahLst/>
              <a:cxnLst/>
              <a:rect r="r" b="b" t="t" l="l"/>
              <a:pathLst>
                <a:path h="185548" w="1211512">
                  <a:moveTo>
                    <a:pt x="0" y="0"/>
                  </a:moveTo>
                  <a:lnTo>
                    <a:pt x="1211512" y="0"/>
                  </a:lnTo>
                  <a:lnTo>
                    <a:pt x="1211512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11512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23844" y="1697239"/>
            <a:ext cx="13017559" cy="6156618"/>
            <a:chOff x="0" y="0"/>
            <a:chExt cx="3428493" cy="16214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28493" cy="1621496"/>
            </a:xfrm>
            <a:custGeom>
              <a:avLst/>
              <a:gdLst/>
              <a:ahLst/>
              <a:cxnLst/>
              <a:rect r="r" b="b" t="t" l="l"/>
              <a:pathLst>
                <a:path h="1621496" w="3428493">
                  <a:moveTo>
                    <a:pt x="59473" y="0"/>
                  </a:moveTo>
                  <a:lnTo>
                    <a:pt x="3369020" y="0"/>
                  </a:lnTo>
                  <a:cubicBezTo>
                    <a:pt x="3384793" y="0"/>
                    <a:pt x="3399920" y="6266"/>
                    <a:pt x="3411074" y="17419"/>
                  </a:cubicBezTo>
                  <a:cubicBezTo>
                    <a:pt x="3422227" y="28573"/>
                    <a:pt x="3428493" y="43700"/>
                    <a:pt x="3428493" y="59473"/>
                  </a:cubicBezTo>
                  <a:lnTo>
                    <a:pt x="3428493" y="1562023"/>
                  </a:lnTo>
                  <a:cubicBezTo>
                    <a:pt x="3428493" y="1577797"/>
                    <a:pt x="3422227" y="1592924"/>
                    <a:pt x="3411074" y="1604077"/>
                  </a:cubicBezTo>
                  <a:cubicBezTo>
                    <a:pt x="3399920" y="1615230"/>
                    <a:pt x="3384793" y="1621496"/>
                    <a:pt x="3369020" y="1621496"/>
                  </a:cubicBezTo>
                  <a:lnTo>
                    <a:pt x="59473" y="1621496"/>
                  </a:lnTo>
                  <a:cubicBezTo>
                    <a:pt x="43700" y="1621496"/>
                    <a:pt x="28573" y="1615230"/>
                    <a:pt x="17419" y="1604077"/>
                  </a:cubicBezTo>
                  <a:cubicBezTo>
                    <a:pt x="6266" y="1592924"/>
                    <a:pt x="0" y="1577797"/>
                    <a:pt x="0" y="1562023"/>
                  </a:cubicBezTo>
                  <a:lnTo>
                    <a:pt x="0" y="59473"/>
                  </a:lnTo>
                  <a:cubicBezTo>
                    <a:pt x="0" y="43700"/>
                    <a:pt x="6266" y="28573"/>
                    <a:pt x="17419" y="17419"/>
                  </a:cubicBezTo>
                  <a:cubicBezTo>
                    <a:pt x="28573" y="6266"/>
                    <a:pt x="43700" y="0"/>
                    <a:pt x="59473" y="0"/>
                  </a:cubicBezTo>
                  <a:close/>
                </a:path>
              </a:pathLst>
            </a:custGeom>
            <a:solidFill>
              <a:srgbClr val="CCD8C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428493" cy="1659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28958" y="551959"/>
            <a:ext cx="730258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Technical limitations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32167" y="372110"/>
            <a:ext cx="1254265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15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47805" y="2179679"/>
            <a:ext cx="11808525" cy="4803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326" indent="-241163" lvl="1">
              <a:lnSpc>
                <a:spcPts val="31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34">
                <a:solidFill>
                  <a:srgbClr val="3647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Huddle Up Platform Integration</a:t>
            </a:r>
          </a:p>
          <a:p>
            <a:pPr algn="l">
              <a:lnSpc>
                <a:spcPts val="2847"/>
              </a:lnSpc>
              <a:spcBef>
                <a:spcPct val="0"/>
              </a:spcBef>
            </a:pPr>
            <a:r>
              <a:rPr lang="en-US" sz="2034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       </a:t>
            </a:r>
            <a:r>
              <a:rPr lang="en-US" sz="2034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Full integration with the existing Huddle Up environment has not been completed or verified.</a:t>
            </a:r>
          </a:p>
          <a:p>
            <a:pPr algn="l">
              <a:lnSpc>
                <a:spcPts val="2847"/>
              </a:lnSpc>
              <a:spcBef>
                <a:spcPct val="0"/>
              </a:spcBef>
            </a:pPr>
          </a:p>
          <a:p>
            <a:pPr algn="l" marL="482326" indent="-241163" lvl="1">
              <a:lnSpc>
                <a:spcPts val="31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34">
                <a:solidFill>
                  <a:srgbClr val="3647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Deployment Architecture</a:t>
            </a:r>
          </a:p>
          <a:p>
            <a:pPr algn="l">
              <a:lnSpc>
                <a:spcPts val="2847"/>
              </a:lnSpc>
              <a:spcBef>
                <a:spcPct val="0"/>
              </a:spcBef>
            </a:pPr>
            <a:r>
              <a:rPr lang="en-US" sz="2034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       </a:t>
            </a:r>
          </a:p>
          <a:p>
            <a:pPr algn="l">
              <a:lnSpc>
                <a:spcPts val="2847"/>
              </a:lnSpc>
              <a:spcBef>
                <a:spcPct val="0"/>
              </a:spcBef>
            </a:pPr>
          </a:p>
          <a:p>
            <a:pPr algn="l">
              <a:lnSpc>
                <a:spcPts val="3127"/>
              </a:lnSpc>
              <a:spcBef>
                <a:spcPct val="0"/>
              </a:spcBef>
            </a:pPr>
          </a:p>
          <a:p>
            <a:pPr algn="l" marL="482326" indent="-241163" lvl="1">
              <a:lnSpc>
                <a:spcPts val="31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34">
                <a:solidFill>
                  <a:srgbClr val="3647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End-to-End Testing</a:t>
            </a:r>
          </a:p>
          <a:p>
            <a:pPr algn="l">
              <a:lnSpc>
                <a:spcPts val="2847"/>
              </a:lnSpc>
              <a:spcBef>
                <a:spcPct val="0"/>
              </a:spcBef>
            </a:pPr>
          </a:p>
          <a:p>
            <a:pPr algn="l">
              <a:lnSpc>
                <a:spcPts val="3127"/>
              </a:lnSpc>
              <a:spcBef>
                <a:spcPct val="0"/>
              </a:spcBef>
            </a:pPr>
          </a:p>
          <a:p>
            <a:pPr algn="l" marL="482326" indent="-241163" lvl="1">
              <a:lnSpc>
                <a:spcPts val="31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34">
                <a:solidFill>
                  <a:srgbClr val="3647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Production Readiness</a:t>
            </a:r>
          </a:p>
          <a:p>
            <a:pPr algn="l">
              <a:lnSpc>
                <a:spcPts val="2847"/>
              </a:lnSpc>
              <a:spcBef>
                <a:spcPct val="0"/>
              </a:spcBef>
            </a:pPr>
          </a:p>
          <a:p>
            <a:pPr algn="l">
              <a:lnSpc>
                <a:spcPts val="2847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637082" y="3709089"/>
            <a:ext cx="10887968" cy="700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sz="2030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ReadAlert currently operates as a prototype rather than a set of independently deployable </a:t>
            </a:r>
          </a:p>
          <a:p>
            <a:pPr algn="l">
              <a:lnSpc>
                <a:spcPts val="2842"/>
              </a:lnSpc>
              <a:spcBef>
                <a:spcPct val="0"/>
              </a:spcBef>
            </a:pPr>
            <a:r>
              <a:rPr lang="en-US" sz="2030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microservices.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37082" y="5225639"/>
            <a:ext cx="10008096" cy="34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sz="2030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Comprehensive integration, performance and security testing remains outstanding.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37082" y="6393277"/>
            <a:ext cx="11507138" cy="700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2"/>
              </a:lnSpc>
              <a:spcBef>
                <a:spcPct val="0"/>
              </a:spcBef>
            </a:pPr>
            <a:r>
              <a:rPr lang="en-US" sz="2030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Further validation, configuration and operational hardening are required before production deployment.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636" y="514985"/>
            <a:ext cx="7447591" cy="704503"/>
            <a:chOff x="0" y="0"/>
            <a:chExt cx="1961505" cy="185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1505" cy="185548"/>
            </a:xfrm>
            <a:custGeom>
              <a:avLst/>
              <a:gdLst/>
              <a:ahLst/>
              <a:cxnLst/>
              <a:rect r="r" b="b" t="t" l="l"/>
              <a:pathLst>
                <a:path h="185548" w="1961505">
                  <a:moveTo>
                    <a:pt x="0" y="0"/>
                  </a:moveTo>
                  <a:lnTo>
                    <a:pt x="1961505" y="0"/>
                  </a:lnTo>
                  <a:lnTo>
                    <a:pt x="1961505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61505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28958" y="551959"/>
            <a:ext cx="730258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Project Outcomes and Handover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32167" y="372110"/>
            <a:ext cx="1254265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16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04697" y="1908369"/>
            <a:ext cx="6921564" cy="3070968"/>
            <a:chOff x="0" y="0"/>
            <a:chExt cx="1822963" cy="8088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2963" cy="808815"/>
            </a:xfrm>
            <a:custGeom>
              <a:avLst/>
              <a:gdLst/>
              <a:ahLst/>
              <a:cxnLst/>
              <a:rect r="r" b="b" t="t" l="l"/>
              <a:pathLst>
                <a:path h="808815" w="1822963">
                  <a:moveTo>
                    <a:pt x="21252" y="0"/>
                  </a:moveTo>
                  <a:lnTo>
                    <a:pt x="1801711" y="0"/>
                  </a:lnTo>
                  <a:cubicBezTo>
                    <a:pt x="1813448" y="0"/>
                    <a:pt x="1822963" y="9515"/>
                    <a:pt x="1822963" y="21252"/>
                  </a:cubicBezTo>
                  <a:lnTo>
                    <a:pt x="1822963" y="787563"/>
                  </a:lnTo>
                  <a:cubicBezTo>
                    <a:pt x="1822963" y="799300"/>
                    <a:pt x="1813448" y="808815"/>
                    <a:pt x="1801711" y="808815"/>
                  </a:cubicBezTo>
                  <a:lnTo>
                    <a:pt x="21252" y="808815"/>
                  </a:lnTo>
                  <a:cubicBezTo>
                    <a:pt x="9515" y="808815"/>
                    <a:pt x="0" y="799300"/>
                    <a:pt x="0" y="787563"/>
                  </a:cubicBezTo>
                  <a:lnTo>
                    <a:pt x="0" y="21252"/>
                  </a:lnTo>
                  <a:cubicBezTo>
                    <a:pt x="0" y="9515"/>
                    <a:pt x="9515" y="0"/>
                    <a:pt x="21252" y="0"/>
                  </a:cubicBezTo>
                  <a:close/>
                </a:path>
              </a:pathLst>
            </a:custGeom>
            <a:solidFill>
              <a:srgbClr val="30473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822963" cy="846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14803" y="2188458"/>
            <a:ext cx="6638721" cy="2463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1ECE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Delivered Prototype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l" marL="496567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F1ECEC"/>
                </a:solidFill>
                <a:latin typeface="Open Sans"/>
                <a:ea typeface="Open Sans"/>
                <a:cs typeface="Open Sans"/>
                <a:sym typeface="Open Sans"/>
              </a:rPr>
              <a:t>Five integrated functional modules</a:t>
            </a:r>
          </a:p>
          <a:p>
            <a:pPr algn="l" marL="496567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F1ECEC"/>
                </a:solidFill>
                <a:latin typeface="Open Sans"/>
                <a:ea typeface="Open Sans"/>
                <a:cs typeface="Open Sans"/>
                <a:sym typeface="Open Sans"/>
              </a:rPr>
              <a:t>Shared frontend and consolidated backend</a:t>
            </a:r>
          </a:p>
          <a:p>
            <a:pPr algn="l" marL="496567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F1ECEC"/>
                </a:solidFill>
                <a:latin typeface="Open Sans"/>
                <a:ea typeface="Open Sans"/>
                <a:cs typeface="Open Sans"/>
                <a:sym typeface="Open Sans"/>
              </a:rPr>
              <a:t>SQL Server and stored procedure integration</a:t>
            </a:r>
          </a:p>
          <a:p>
            <a:pPr algn="l" marL="496567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F1ECEC"/>
                </a:solidFill>
                <a:latin typeface="Open Sans"/>
                <a:ea typeface="Open Sans"/>
                <a:cs typeface="Open Sans"/>
                <a:sym typeface="Open Sans"/>
              </a:rPr>
              <a:t>Source code and supporting documentation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632316" y="1908369"/>
            <a:ext cx="6999851" cy="3070968"/>
            <a:chOff x="0" y="0"/>
            <a:chExt cx="1843582" cy="8088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43582" cy="808815"/>
            </a:xfrm>
            <a:custGeom>
              <a:avLst/>
              <a:gdLst/>
              <a:ahLst/>
              <a:cxnLst/>
              <a:rect r="r" b="b" t="t" l="l"/>
              <a:pathLst>
                <a:path h="808815" w="1843582">
                  <a:moveTo>
                    <a:pt x="21014" y="0"/>
                  </a:moveTo>
                  <a:lnTo>
                    <a:pt x="1822568" y="0"/>
                  </a:lnTo>
                  <a:cubicBezTo>
                    <a:pt x="1834174" y="0"/>
                    <a:pt x="1843582" y="9408"/>
                    <a:pt x="1843582" y="21014"/>
                  </a:cubicBezTo>
                  <a:lnTo>
                    <a:pt x="1843582" y="787801"/>
                  </a:lnTo>
                  <a:cubicBezTo>
                    <a:pt x="1843582" y="799406"/>
                    <a:pt x="1834174" y="808815"/>
                    <a:pt x="1822568" y="808815"/>
                  </a:cubicBezTo>
                  <a:lnTo>
                    <a:pt x="21014" y="808815"/>
                  </a:lnTo>
                  <a:cubicBezTo>
                    <a:pt x="9408" y="808815"/>
                    <a:pt x="0" y="799406"/>
                    <a:pt x="0" y="787801"/>
                  </a:cubicBezTo>
                  <a:lnTo>
                    <a:pt x="0" y="21014"/>
                  </a:lnTo>
                  <a:cubicBezTo>
                    <a:pt x="0" y="9408"/>
                    <a:pt x="9408" y="0"/>
                    <a:pt x="21014" y="0"/>
                  </a:cubicBezTo>
                  <a:close/>
                </a:path>
              </a:pathLst>
            </a:custGeom>
            <a:solidFill>
              <a:srgbClr val="9BB29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43582" cy="846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849242" y="2188458"/>
            <a:ext cx="6567339" cy="202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647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Future Development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 marL="496567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Independently deployable microservices</a:t>
            </a:r>
          </a:p>
          <a:p>
            <a:pPr algn="l" marL="496567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Complete Huddle Up host integration</a:t>
            </a:r>
          </a:p>
          <a:p>
            <a:pPr algn="l" marL="496567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Further production hardening and validation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042663" y="5665137"/>
            <a:ext cx="7897303" cy="3807256"/>
            <a:chOff x="0" y="0"/>
            <a:chExt cx="2079948" cy="10027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79948" cy="1002734"/>
            </a:xfrm>
            <a:custGeom>
              <a:avLst/>
              <a:gdLst/>
              <a:ahLst/>
              <a:cxnLst/>
              <a:rect r="r" b="b" t="t" l="l"/>
              <a:pathLst>
                <a:path h="1002734" w="2079948">
                  <a:moveTo>
                    <a:pt x="39213" y="0"/>
                  </a:moveTo>
                  <a:lnTo>
                    <a:pt x="2040735" y="0"/>
                  </a:lnTo>
                  <a:cubicBezTo>
                    <a:pt x="2062392" y="0"/>
                    <a:pt x="2079948" y="17556"/>
                    <a:pt x="2079948" y="39213"/>
                  </a:cubicBezTo>
                  <a:lnTo>
                    <a:pt x="2079948" y="963521"/>
                  </a:lnTo>
                  <a:cubicBezTo>
                    <a:pt x="2079948" y="973921"/>
                    <a:pt x="2075817" y="983895"/>
                    <a:pt x="2068463" y="991249"/>
                  </a:cubicBezTo>
                  <a:cubicBezTo>
                    <a:pt x="2061109" y="998603"/>
                    <a:pt x="2051135" y="1002734"/>
                    <a:pt x="2040735" y="1002734"/>
                  </a:cubicBezTo>
                  <a:lnTo>
                    <a:pt x="39213" y="1002734"/>
                  </a:lnTo>
                  <a:cubicBezTo>
                    <a:pt x="17556" y="1002734"/>
                    <a:pt x="0" y="985178"/>
                    <a:pt x="0" y="963521"/>
                  </a:cubicBezTo>
                  <a:lnTo>
                    <a:pt x="0" y="39213"/>
                  </a:lnTo>
                  <a:cubicBezTo>
                    <a:pt x="0" y="17556"/>
                    <a:pt x="17556" y="0"/>
                    <a:pt x="3921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079948" cy="1040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895695" y="5712762"/>
            <a:ext cx="6496610" cy="3491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9"/>
              </a:lnSpc>
              <a:spcBef>
                <a:spcPct val="0"/>
              </a:spcBef>
            </a:pPr>
            <a:r>
              <a:rPr lang="en-US" b="true" sz="2507">
                <a:solidFill>
                  <a:srgbClr val="3647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Documentation Package</a:t>
            </a:r>
          </a:p>
          <a:p>
            <a:pPr algn="just">
              <a:lnSpc>
                <a:spcPts val="3509"/>
              </a:lnSpc>
              <a:spcBef>
                <a:spcPct val="0"/>
              </a:spcBef>
            </a:pPr>
          </a:p>
          <a:p>
            <a:pPr algn="l" marL="497979" indent="-248990" lvl="1">
              <a:lnSpc>
                <a:spcPts val="3229"/>
              </a:lnSpc>
              <a:spcBef>
                <a:spcPct val="0"/>
              </a:spcBef>
              <a:buFont typeface="Arial"/>
              <a:buChar char="•"/>
            </a:pPr>
            <a:r>
              <a:rPr lang="en-US" sz="2306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Setup &amp; Running Guide</a:t>
            </a:r>
          </a:p>
          <a:p>
            <a:pPr algn="l">
              <a:lnSpc>
                <a:spcPts val="2246"/>
              </a:lnSpc>
              <a:spcBef>
                <a:spcPct val="0"/>
              </a:spcBef>
            </a:pPr>
            <a:r>
              <a:rPr lang="en-US" sz="1604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         </a:t>
            </a:r>
            <a:r>
              <a:rPr lang="en-US" sz="1604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Prerequisites, configuration and execution</a:t>
            </a:r>
          </a:p>
          <a:p>
            <a:pPr algn="l">
              <a:lnSpc>
                <a:spcPts val="2246"/>
              </a:lnSpc>
              <a:spcBef>
                <a:spcPct val="0"/>
              </a:spcBef>
            </a:pPr>
          </a:p>
          <a:p>
            <a:pPr algn="l" marL="497979" indent="-248990" lvl="1">
              <a:lnSpc>
                <a:spcPts val="3229"/>
              </a:lnSpc>
              <a:spcBef>
                <a:spcPct val="0"/>
              </a:spcBef>
              <a:buFont typeface="Arial"/>
              <a:buChar char="•"/>
            </a:pPr>
            <a:r>
              <a:rPr lang="en-US" sz="2306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Technical Handover Guide</a:t>
            </a:r>
          </a:p>
          <a:p>
            <a:pPr algn="l">
              <a:lnSpc>
                <a:spcPts val="2246"/>
              </a:lnSpc>
              <a:spcBef>
                <a:spcPct val="0"/>
              </a:spcBef>
            </a:pPr>
            <a:r>
              <a:rPr lang="en-US" sz="1604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          </a:t>
            </a:r>
            <a:r>
              <a:rPr lang="en-US" sz="1604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Architecture, API routes and dependencies</a:t>
            </a:r>
          </a:p>
          <a:p>
            <a:pPr algn="l">
              <a:lnSpc>
                <a:spcPts val="2246"/>
              </a:lnSpc>
              <a:spcBef>
                <a:spcPct val="0"/>
              </a:spcBef>
            </a:pPr>
          </a:p>
          <a:p>
            <a:pPr algn="l" marL="497979" indent="-248990" lvl="1">
              <a:lnSpc>
                <a:spcPts val="3229"/>
              </a:lnSpc>
              <a:spcBef>
                <a:spcPct val="0"/>
              </a:spcBef>
              <a:buFont typeface="Arial"/>
              <a:buChar char="•"/>
            </a:pPr>
            <a:r>
              <a:rPr lang="en-US" sz="2306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Testing &amp; Completion Summary</a:t>
            </a:r>
          </a:p>
          <a:p>
            <a:pPr algn="l">
              <a:lnSpc>
                <a:spcPts val="2246"/>
              </a:lnSpc>
              <a:spcBef>
                <a:spcPct val="0"/>
              </a:spcBef>
            </a:pPr>
            <a:r>
              <a:rPr lang="en-US" sz="1604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          </a:t>
            </a:r>
            <a:r>
              <a:rPr lang="en-US" sz="1604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Validation results and known limitations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636" y="514985"/>
            <a:ext cx="2586300" cy="704503"/>
            <a:chOff x="0" y="0"/>
            <a:chExt cx="681166" cy="185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1166" cy="185548"/>
            </a:xfrm>
            <a:custGeom>
              <a:avLst/>
              <a:gdLst/>
              <a:ahLst/>
              <a:cxnLst/>
              <a:rect r="r" b="b" t="t" l="l"/>
              <a:pathLst>
                <a:path h="185548" w="681166">
                  <a:moveTo>
                    <a:pt x="0" y="0"/>
                  </a:moveTo>
                  <a:lnTo>
                    <a:pt x="681166" y="0"/>
                  </a:lnTo>
                  <a:lnTo>
                    <a:pt x="681166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81166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527664" y="2114454"/>
            <a:ext cx="13634658" cy="6233477"/>
          </a:xfrm>
          <a:custGeom>
            <a:avLst/>
            <a:gdLst/>
            <a:ahLst/>
            <a:cxnLst/>
            <a:rect r="r" b="b" t="t" l="l"/>
            <a:pathLst>
              <a:path h="6233477" w="13634658">
                <a:moveTo>
                  <a:pt x="0" y="0"/>
                </a:moveTo>
                <a:lnTo>
                  <a:pt x="13634659" y="0"/>
                </a:lnTo>
                <a:lnTo>
                  <a:pt x="13634659" y="6233477"/>
                </a:lnTo>
                <a:lnTo>
                  <a:pt x="0" y="62334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8958" y="551959"/>
            <a:ext cx="2298707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32167" y="372110"/>
            <a:ext cx="1254265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46963" y="8841055"/>
            <a:ext cx="15541037" cy="704503"/>
            <a:chOff x="0" y="0"/>
            <a:chExt cx="4093113" cy="185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93113" cy="185548"/>
            </a:xfrm>
            <a:custGeom>
              <a:avLst/>
              <a:gdLst/>
              <a:ahLst/>
              <a:cxnLst/>
              <a:rect r="r" b="b" t="t" l="l"/>
              <a:pathLst>
                <a:path h="185548" w="4093113">
                  <a:moveTo>
                    <a:pt x="0" y="0"/>
                  </a:moveTo>
                  <a:lnTo>
                    <a:pt x="4093113" y="0"/>
                  </a:lnTo>
                  <a:lnTo>
                    <a:pt x="4093113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93113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387001" y="3066064"/>
            <a:ext cx="9513998" cy="2254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00"/>
              </a:lnSpc>
            </a:pPr>
            <a:r>
              <a:rPr lang="en-US" sz="12500" b="true">
                <a:solidFill>
                  <a:srgbClr val="36473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Thank You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8841055"/>
            <a:ext cx="1822452" cy="704503"/>
            <a:chOff x="0" y="0"/>
            <a:chExt cx="479987" cy="1855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9987" cy="185548"/>
            </a:xfrm>
            <a:custGeom>
              <a:avLst/>
              <a:gdLst/>
              <a:ahLst/>
              <a:cxnLst/>
              <a:rect r="r" b="b" t="t" l="l"/>
              <a:pathLst>
                <a:path h="185548" w="479987">
                  <a:moveTo>
                    <a:pt x="0" y="0"/>
                  </a:moveTo>
                  <a:lnTo>
                    <a:pt x="479987" y="0"/>
                  </a:lnTo>
                  <a:lnTo>
                    <a:pt x="479987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79987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58636" y="514985"/>
            <a:ext cx="5566516" cy="704503"/>
            <a:chOff x="0" y="0"/>
            <a:chExt cx="1466078" cy="1855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6078" cy="185548"/>
            </a:xfrm>
            <a:custGeom>
              <a:avLst/>
              <a:gdLst/>
              <a:ahLst/>
              <a:cxnLst/>
              <a:rect r="r" b="b" t="t" l="l"/>
              <a:pathLst>
                <a:path h="185548" w="1466078">
                  <a:moveTo>
                    <a:pt x="0" y="0"/>
                  </a:moveTo>
                  <a:lnTo>
                    <a:pt x="1466078" y="0"/>
                  </a:lnTo>
                  <a:lnTo>
                    <a:pt x="1466078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66078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569422"/>
            <a:ext cx="4380875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Team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DAHYJevZULI</dc:identifier>
  <dcterms:modified xsi:type="dcterms:W3CDTF">2011-08-01T06:04:30Z</dcterms:modified>
  <cp:revision>1</cp:revision>
  <dc:title>Final_Presentation </dc:title>
</cp:coreProperties>
</file>