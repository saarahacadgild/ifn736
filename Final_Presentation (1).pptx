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Belleza"/>
      <p:regular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Lora"/>
      <p:bold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gwk8C9fnFHa46ow03uFffqXPu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font" Target="fonts/Bellez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Lora-boldItalic.fntdata"/><Relationship Id="rId10" Type="http://schemas.openxmlformats.org/officeDocument/2006/relationships/slide" Target="slides/slide5.xml"/><Relationship Id="rId32" Type="http://schemas.openxmlformats.org/officeDocument/2006/relationships/font" Target="fonts/Lora-bold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ff35f18ac13cd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h2ff35f18ac13cdd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2ff35f18ac13cdd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h2ff35f18ac13cdd5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2ff35f18ac13cdd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h2ff35f18ac13cdd5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746963" y="8696394"/>
            <a:ext cx="15541037" cy="849164"/>
            <a:chOff x="0" y="-38100"/>
            <a:chExt cx="4093113" cy="22364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2746963" y="3510641"/>
            <a:ext cx="11559582" cy="202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91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ReadAlert</a:t>
            </a:r>
            <a:endParaRPr/>
          </a:p>
        </p:txBody>
      </p:sp>
      <p:grpSp>
        <p:nvGrpSpPr>
          <p:cNvPr id="88" name="Google Shape;88;p1"/>
          <p:cNvGrpSpPr/>
          <p:nvPr/>
        </p:nvGrpSpPr>
        <p:grpSpPr>
          <a:xfrm>
            <a:off x="0" y="8696394"/>
            <a:ext cx="1822452" cy="849164"/>
            <a:chOff x="0" y="-38100"/>
            <a:chExt cx="479987" cy="223648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1028700" y="2165809"/>
            <a:ext cx="8702452" cy="684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IFN736 - Industry Project (Phase 2)</a:t>
            </a:r>
            <a:endParaRPr/>
          </a:p>
        </p:txBody>
      </p:sp>
      <p:grpSp>
        <p:nvGrpSpPr>
          <p:cNvPr id="92" name="Google Shape;92;p1"/>
          <p:cNvGrpSpPr/>
          <p:nvPr/>
        </p:nvGrpSpPr>
        <p:grpSpPr>
          <a:xfrm>
            <a:off x="-58636" y="255845"/>
            <a:ext cx="6482347" cy="1135361"/>
            <a:chOff x="0" y="-38100"/>
            <a:chExt cx="1707285" cy="299025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1707285" cy="260925"/>
            </a:xfrm>
            <a:custGeom>
              <a:rect b="b" l="l" r="r" t="t"/>
              <a:pathLst>
                <a:path extrusionOk="0" h="260925" w="1707285">
                  <a:moveTo>
                    <a:pt x="0" y="0"/>
                  </a:moveTo>
                  <a:lnTo>
                    <a:pt x="1707285" y="0"/>
                  </a:lnTo>
                  <a:lnTo>
                    <a:pt x="1707285" y="260925"/>
                  </a:lnTo>
                  <a:lnTo>
                    <a:pt x="0" y="260925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94" name="Google Shape;94;p1"/>
            <p:cNvSpPr txBox="1"/>
            <p:nvPr/>
          </p:nvSpPr>
          <p:spPr>
            <a:xfrm>
              <a:off x="0" y="-38100"/>
              <a:ext cx="1707285" cy="299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302480" y="499105"/>
            <a:ext cx="6681179" cy="580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Penta Intelligence | Group 18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423254" y="5446282"/>
            <a:ext cx="11441492" cy="684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An Integrated Reading Management Prototype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2746963" y="8696394"/>
            <a:ext cx="15541037" cy="849164"/>
            <a:chOff x="0" y="-38100"/>
            <a:chExt cx="4093113" cy="223648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03" name="Google Shape;103;p2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0" y="8696394"/>
            <a:ext cx="1822452" cy="849164"/>
            <a:chOff x="0" y="-38100"/>
            <a:chExt cx="479987" cy="22364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-58636" y="255845"/>
            <a:ext cx="6200515" cy="900498"/>
            <a:chOff x="0" y="-38100"/>
            <a:chExt cx="1633057" cy="23716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633057" cy="199068"/>
            </a:xfrm>
            <a:custGeom>
              <a:rect b="b" l="l" r="r" t="t"/>
              <a:pathLst>
                <a:path extrusionOk="0" h="199068" w="1633057">
                  <a:moveTo>
                    <a:pt x="0" y="0"/>
                  </a:moveTo>
                  <a:lnTo>
                    <a:pt x="1633057" y="0"/>
                  </a:lnTo>
                  <a:lnTo>
                    <a:pt x="1633057" y="199068"/>
                  </a:lnTo>
                  <a:lnTo>
                    <a:pt x="0" y="19906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38100"/>
              <a:ext cx="1633056" cy="237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0" y="1223617"/>
            <a:ext cx="394256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Meet the Team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2665" y="448479"/>
            <a:ext cx="6681179" cy="580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Penta Intelligence | Group 18</a:t>
            </a:r>
            <a:endParaRPr/>
          </a:p>
        </p:txBody>
      </p:sp>
      <p:grpSp>
        <p:nvGrpSpPr>
          <p:cNvPr id="112" name="Google Shape;112;p2"/>
          <p:cNvGrpSpPr/>
          <p:nvPr/>
        </p:nvGrpSpPr>
        <p:grpSpPr>
          <a:xfrm>
            <a:off x="975595" y="1774280"/>
            <a:ext cx="8038317" cy="2257515"/>
            <a:chOff x="0" y="-38100"/>
            <a:chExt cx="2117088" cy="594572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2117088" cy="556472"/>
            </a:xfrm>
            <a:custGeom>
              <a:rect b="b" l="l" r="r" t="t"/>
              <a:pathLst>
                <a:path extrusionOk="0"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"/>
          <p:cNvSpPr txBox="1"/>
          <p:nvPr/>
        </p:nvSpPr>
        <p:spPr>
          <a:xfrm>
            <a:off x="1217881" y="1985616"/>
            <a:ext cx="2325398" cy="537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4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Julia lezzi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975595" y="3985972"/>
            <a:ext cx="8038317" cy="2257515"/>
            <a:chOff x="0" y="-38100"/>
            <a:chExt cx="2117088" cy="594572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2117088" cy="556472"/>
            </a:xfrm>
            <a:custGeom>
              <a:rect b="b" l="l" r="r" t="t"/>
              <a:pathLst>
                <a:path extrusionOk="0"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9280090" y="3985972"/>
            <a:ext cx="8038317" cy="2257515"/>
            <a:chOff x="0" y="-38100"/>
            <a:chExt cx="2117088" cy="594572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2117088" cy="556472"/>
            </a:xfrm>
            <a:custGeom>
              <a:rect b="b" l="l" r="r" t="t"/>
              <a:pathLst>
                <a:path extrusionOk="0"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 txBox="1"/>
          <p:nvPr/>
        </p:nvSpPr>
        <p:spPr>
          <a:xfrm>
            <a:off x="9519505" y="4291893"/>
            <a:ext cx="2967357" cy="537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4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Amisha Patel</a:t>
            </a:r>
            <a:endParaRPr/>
          </a:p>
        </p:txBody>
      </p:sp>
      <p:grpSp>
        <p:nvGrpSpPr>
          <p:cNvPr id="123" name="Google Shape;123;p2"/>
          <p:cNvGrpSpPr/>
          <p:nvPr/>
        </p:nvGrpSpPr>
        <p:grpSpPr>
          <a:xfrm>
            <a:off x="5260932" y="6341183"/>
            <a:ext cx="8038317" cy="2257515"/>
            <a:chOff x="0" y="-38100"/>
            <a:chExt cx="2117088" cy="594572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2117088" cy="556472"/>
            </a:xfrm>
            <a:custGeom>
              <a:rect b="b" l="l" r="r" t="t"/>
              <a:pathLst>
                <a:path extrusionOk="0"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"/>
          <p:cNvSpPr txBox="1"/>
          <p:nvPr/>
        </p:nvSpPr>
        <p:spPr>
          <a:xfrm>
            <a:off x="6643347" y="6710212"/>
            <a:ext cx="5347302" cy="537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4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Saarah Fariheen Sayeed</a:t>
            </a:r>
            <a:endParaRPr/>
          </a:p>
        </p:txBody>
      </p:sp>
      <p:grpSp>
        <p:nvGrpSpPr>
          <p:cNvPr id="127" name="Google Shape;127;p2"/>
          <p:cNvGrpSpPr/>
          <p:nvPr/>
        </p:nvGrpSpPr>
        <p:grpSpPr>
          <a:xfrm>
            <a:off x="9280090" y="1774280"/>
            <a:ext cx="8038317" cy="2257515"/>
            <a:chOff x="0" y="-38100"/>
            <a:chExt cx="2117088" cy="594572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2117088" cy="556472"/>
            </a:xfrm>
            <a:custGeom>
              <a:rect b="b" l="l" r="r" t="t"/>
              <a:pathLst>
                <a:path extrusionOk="0" h="556472" w="2117088">
                  <a:moveTo>
                    <a:pt x="25041" y="0"/>
                  </a:moveTo>
                  <a:lnTo>
                    <a:pt x="2092046" y="0"/>
                  </a:lnTo>
                  <a:cubicBezTo>
                    <a:pt x="2105876" y="0"/>
                    <a:pt x="2117088" y="11211"/>
                    <a:pt x="2117088" y="25041"/>
                  </a:cubicBezTo>
                  <a:lnTo>
                    <a:pt x="2117088" y="531430"/>
                  </a:lnTo>
                  <a:cubicBezTo>
                    <a:pt x="2117088" y="545260"/>
                    <a:pt x="2105876" y="556472"/>
                    <a:pt x="2092046" y="556472"/>
                  </a:cubicBezTo>
                  <a:lnTo>
                    <a:pt x="25041" y="556472"/>
                  </a:lnTo>
                  <a:cubicBezTo>
                    <a:pt x="11211" y="556472"/>
                    <a:pt x="0" y="545260"/>
                    <a:pt x="0" y="531430"/>
                  </a:cubicBezTo>
                  <a:lnTo>
                    <a:pt x="0" y="25041"/>
                  </a:lnTo>
                  <a:cubicBezTo>
                    <a:pt x="0" y="11211"/>
                    <a:pt x="11211" y="0"/>
                    <a:pt x="25041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38100"/>
              <a:ext cx="2117088" cy="594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2"/>
          <p:cNvSpPr txBox="1"/>
          <p:nvPr/>
        </p:nvSpPr>
        <p:spPr>
          <a:xfrm>
            <a:off x="9519505" y="1978350"/>
            <a:ext cx="3531028" cy="537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4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Sude Karadeniz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217881" y="4291893"/>
            <a:ext cx="6521617" cy="537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4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Ghazal Abdolah Zadeh Javazm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217881" y="2466198"/>
            <a:ext cx="7427169" cy="30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PROJECT MANAGEMENT · BOOK CATALOGUE · FRONTEND INTEGRATION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519505" y="4772475"/>
            <a:ext cx="5500860" cy="30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READER PROFILE · DOCUMENTATION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217881" y="4772475"/>
            <a:ext cx="6187481" cy="30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READING RECORD · FRONTEND DESIGN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6643347" y="7190793"/>
            <a:ext cx="2776449" cy="30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BOOK LOOKUP / SCAN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9519505" y="2466213"/>
            <a:ext cx="6221135" cy="30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TEAM LEAD · AUTHOR CATALOGUE · BACKEND INTEGRATION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1217881" y="2902543"/>
            <a:ext cx="6845721" cy="989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2B4529"/>
                </a:solidFill>
                <a:latin typeface="Arial"/>
                <a:ea typeface="Arial"/>
                <a:cs typeface="Arial"/>
                <a:sym typeface="Arial"/>
              </a:rPr>
              <a:t>Coordinating project delivery, reviewing team contributions, book management functionality and frontend integration.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9519505" y="2864443"/>
            <a:ext cx="7515323" cy="989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2B4529"/>
                </a:solidFill>
                <a:latin typeface="Arial"/>
                <a:ea typeface="Arial"/>
                <a:cs typeface="Arial"/>
                <a:sym typeface="Arial"/>
              </a:rPr>
              <a:t>Leading technical development, reviewing team contributions, resolving integration issues and coordinating backend implementation.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217881" y="5319730"/>
            <a:ext cx="7601681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Developing reading record functionality and consistent styling across modules.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9519505" y="5319730"/>
            <a:ext cx="6629139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Developing reader profile functionality and supporting project documentation.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439345" y="7738049"/>
            <a:ext cx="6190728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Making book discovery and tracking more convenient.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3"/>
          <p:cNvGrpSpPr/>
          <p:nvPr/>
        </p:nvGrpSpPr>
        <p:grpSpPr>
          <a:xfrm>
            <a:off x="-58636" y="370324"/>
            <a:ext cx="5566516" cy="849164"/>
            <a:chOff x="0" y="-38100"/>
            <a:chExt cx="1466078" cy="223648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1466078" cy="185548"/>
            </a:xfrm>
            <a:custGeom>
              <a:rect b="b" l="l" r="r" t="t"/>
              <a:pathLst>
                <a:path extrusionOk="0"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48" name="Google Shape;148;p3"/>
            <p:cNvSpPr txBox="1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2746963" y="8696394"/>
            <a:ext cx="15541037" cy="849164"/>
            <a:chOff x="0" y="-38100"/>
            <a:chExt cx="4093113" cy="223648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51" name="Google Shape;151;p3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3"/>
          <p:cNvGrpSpPr/>
          <p:nvPr/>
        </p:nvGrpSpPr>
        <p:grpSpPr>
          <a:xfrm>
            <a:off x="0" y="8696394"/>
            <a:ext cx="1822452" cy="849164"/>
            <a:chOff x="0" y="-38100"/>
            <a:chExt cx="479987" cy="223648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54" name="Google Shape;154;p3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3"/>
          <p:cNvGrpSpPr/>
          <p:nvPr/>
        </p:nvGrpSpPr>
        <p:grpSpPr>
          <a:xfrm>
            <a:off x="256799" y="3659866"/>
            <a:ext cx="8374300" cy="4952700"/>
            <a:chOff x="0" y="-38100"/>
            <a:chExt cx="2205577" cy="1304415"/>
          </a:xfrm>
        </p:grpSpPr>
        <p:sp>
          <p:nvSpPr>
            <p:cNvPr id="156" name="Google Shape;156;p3"/>
            <p:cNvSpPr/>
            <p:nvPr/>
          </p:nvSpPr>
          <p:spPr>
            <a:xfrm>
              <a:off x="0" y="0"/>
              <a:ext cx="2205577" cy="1266315"/>
            </a:xfrm>
            <a:custGeom>
              <a:rect b="b" l="l" r="r" t="t"/>
              <a:pathLst>
                <a:path extrusionOk="0" h="1266315" w="2205577">
                  <a:moveTo>
                    <a:pt x="47149" y="0"/>
                  </a:moveTo>
                  <a:lnTo>
                    <a:pt x="2158428" y="0"/>
                  </a:lnTo>
                  <a:cubicBezTo>
                    <a:pt x="2170933" y="0"/>
                    <a:pt x="2182925" y="4967"/>
                    <a:pt x="2191767" y="13810"/>
                  </a:cubicBezTo>
                  <a:cubicBezTo>
                    <a:pt x="2200609" y="22652"/>
                    <a:pt x="2205577" y="34644"/>
                    <a:pt x="2205577" y="47149"/>
                  </a:cubicBezTo>
                  <a:lnTo>
                    <a:pt x="2205577" y="1219166"/>
                  </a:lnTo>
                  <a:cubicBezTo>
                    <a:pt x="2205577" y="1231671"/>
                    <a:pt x="2200609" y="1243663"/>
                    <a:pt x="2191767" y="1252505"/>
                  </a:cubicBezTo>
                  <a:cubicBezTo>
                    <a:pt x="2182925" y="1261347"/>
                    <a:pt x="2170933" y="1266315"/>
                    <a:pt x="2158428" y="1266315"/>
                  </a:cubicBezTo>
                  <a:lnTo>
                    <a:pt x="47149" y="1266315"/>
                  </a:lnTo>
                  <a:cubicBezTo>
                    <a:pt x="34644" y="1266315"/>
                    <a:pt x="22652" y="1261347"/>
                    <a:pt x="13810" y="1252505"/>
                  </a:cubicBezTo>
                  <a:cubicBezTo>
                    <a:pt x="4967" y="1243663"/>
                    <a:pt x="0" y="1231671"/>
                    <a:pt x="0" y="1219166"/>
                  </a:cubicBezTo>
                  <a:lnTo>
                    <a:pt x="0" y="47149"/>
                  </a:lnTo>
                  <a:cubicBezTo>
                    <a:pt x="0" y="34644"/>
                    <a:pt x="4967" y="22652"/>
                    <a:pt x="13810" y="13810"/>
                  </a:cubicBezTo>
                  <a:cubicBezTo>
                    <a:pt x="22652" y="4967"/>
                    <a:pt x="34644" y="0"/>
                    <a:pt x="47149" y="0"/>
                  </a:cubicBezTo>
                  <a:close/>
                </a:path>
              </a:pathLst>
            </a:custGeom>
            <a:solidFill>
              <a:srgbClr val="9BB2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0" y="-38100"/>
              <a:ext cx="2205577" cy="1304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598074" y="4191866"/>
            <a:ext cx="626304" cy="447808"/>
          </a:xfrm>
          <a:custGeom>
            <a:rect b="b" l="l" r="r" t="t"/>
            <a:pathLst>
              <a:path extrusionOk="0" h="447808" w="626304">
                <a:moveTo>
                  <a:pt x="0" y="0"/>
                </a:moveTo>
                <a:lnTo>
                  <a:pt x="626304" y="0"/>
                </a:lnTo>
                <a:lnTo>
                  <a:pt x="626304" y="447808"/>
                </a:lnTo>
                <a:lnTo>
                  <a:pt x="0" y="447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9" name="Google Shape;159;p3"/>
          <p:cNvGrpSpPr/>
          <p:nvPr/>
        </p:nvGrpSpPr>
        <p:grpSpPr>
          <a:xfrm>
            <a:off x="9144000" y="3659866"/>
            <a:ext cx="8482992" cy="4952700"/>
            <a:chOff x="0" y="-38100"/>
            <a:chExt cx="2234204" cy="1304415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2234204" cy="1266315"/>
            </a:xfrm>
            <a:custGeom>
              <a:rect b="b" l="l" r="r" t="t"/>
              <a:pathLst>
                <a:path extrusionOk="0" h="1266315" w="2234204">
                  <a:moveTo>
                    <a:pt x="46545" y="0"/>
                  </a:moveTo>
                  <a:lnTo>
                    <a:pt x="2187659" y="0"/>
                  </a:lnTo>
                  <a:cubicBezTo>
                    <a:pt x="2200003" y="0"/>
                    <a:pt x="2211842" y="4904"/>
                    <a:pt x="2220571" y="13633"/>
                  </a:cubicBezTo>
                  <a:cubicBezTo>
                    <a:pt x="2229300" y="22361"/>
                    <a:pt x="2234204" y="34200"/>
                    <a:pt x="2234204" y="46545"/>
                  </a:cubicBezTo>
                  <a:lnTo>
                    <a:pt x="2234204" y="1219770"/>
                  </a:lnTo>
                  <a:cubicBezTo>
                    <a:pt x="2234204" y="1232115"/>
                    <a:pt x="2229300" y="1243953"/>
                    <a:pt x="2220571" y="1252682"/>
                  </a:cubicBezTo>
                  <a:cubicBezTo>
                    <a:pt x="2211842" y="1261411"/>
                    <a:pt x="2200003" y="1266315"/>
                    <a:pt x="2187659" y="1266315"/>
                  </a:cubicBezTo>
                  <a:lnTo>
                    <a:pt x="46545" y="1266315"/>
                  </a:lnTo>
                  <a:cubicBezTo>
                    <a:pt x="34200" y="1266315"/>
                    <a:pt x="22361" y="1261411"/>
                    <a:pt x="13633" y="1252682"/>
                  </a:cubicBezTo>
                  <a:cubicBezTo>
                    <a:pt x="4904" y="1243953"/>
                    <a:pt x="0" y="1232115"/>
                    <a:pt x="0" y="1219770"/>
                  </a:cubicBezTo>
                  <a:lnTo>
                    <a:pt x="0" y="46545"/>
                  </a:lnTo>
                  <a:cubicBezTo>
                    <a:pt x="0" y="34200"/>
                    <a:pt x="4904" y="22361"/>
                    <a:pt x="13633" y="13633"/>
                  </a:cubicBezTo>
                  <a:cubicBezTo>
                    <a:pt x="22361" y="4904"/>
                    <a:pt x="34200" y="0"/>
                    <a:pt x="46545" y="0"/>
                  </a:cubicBezTo>
                  <a:close/>
                </a:path>
              </a:pathLst>
            </a:custGeom>
            <a:solidFill>
              <a:srgbClr val="9BB2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0" y="-38100"/>
              <a:ext cx="2234204" cy="1304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3"/>
          <p:cNvSpPr/>
          <p:nvPr/>
        </p:nvSpPr>
        <p:spPr>
          <a:xfrm>
            <a:off x="9609516" y="4101195"/>
            <a:ext cx="593149" cy="596129"/>
          </a:xfrm>
          <a:custGeom>
            <a:rect b="b" l="l" r="r" t="t"/>
            <a:pathLst>
              <a:path extrusionOk="0" h="596129" w="593149">
                <a:moveTo>
                  <a:pt x="0" y="0"/>
                </a:moveTo>
                <a:lnTo>
                  <a:pt x="593149" y="0"/>
                </a:lnTo>
                <a:lnTo>
                  <a:pt x="593149" y="596130"/>
                </a:lnTo>
                <a:lnTo>
                  <a:pt x="0" y="5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3"/>
          <p:cNvSpPr txBox="1"/>
          <p:nvPr/>
        </p:nvSpPr>
        <p:spPr>
          <a:xfrm>
            <a:off x="0" y="1466536"/>
            <a:ext cx="5139298" cy="863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2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About ReadAlert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534185" y="523384"/>
            <a:ext cx="4380875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256799" y="2549000"/>
            <a:ext cx="15890008" cy="960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ReadAlert is a reading management Module developed as a part of the HuddleUp platform, in collaboration with our industry partner, Wayne Wood from the Cyber Security Centre.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1534900" y="4092171"/>
            <a:ext cx="6760318" cy="54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4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Purpose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534185" y="4849224"/>
            <a:ext cx="7017974" cy="1703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Manage readers, books, authors and individual reading activity within a connected application.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10498982" y="4125191"/>
            <a:ext cx="6760318" cy="547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4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Project Outcome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9376967" y="4858749"/>
            <a:ext cx="8017057" cy="3704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 ReadAlert proof-of-concept (POC) comprising five microservice modules, with frontend interfaces, backend APIs and SQL Server database integration, developed for integration with the Huddle Up platform.</a:t>
            </a:r>
            <a:endParaRPr/>
          </a:p>
          <a:p>
            <a:pPr indent="0" lvl="0" marL="0" marR="0" rtl="0" algn="just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4" u="none" cap="none" strike="noStrike">
              <a:solidFill>
                <a:srgbClr val="36473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4"/>
          <p:cNvGrpSpPr/>
          <p:nvPr/>
        </p:nvGrpSpPr>
        <p:grpSpPr>
          <a:xfrm>
            <a:off x="-58636" y="370324"/>
            <a:ext cx="9618070" cy="849164"/>
            <a:chOff x="0" y="-38100"/>
            <a:chExt cx="2533154" cy="223648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2533154" cy="185548"/>
            </a:xfrm>
            <a:custGeom>
              <a:rect b="b" l="l" r="r" t="t"/>
              <a:pathLst>
                <a:path extrusionOk="0" h="185548" w="2533154">
                  <a:moveTo>
                    <a:pt x="0" y="0"/>
                  </a:moveTo>
                  <a:lnTo>
                    <a:pt x="2533154" y="0"/>
                  </a:lnTo>
                  <a:lnTo>
                    <a:pt x="2533154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77" name="Google Shape;177;p4"/>
            <p:cNvSpPr txBox="1"/>
            <p:nvPr/>
          </p:nvSpPr>
          <p:spPr>
            <a:xfrm>
              <a:off x="0" y="-38100"/>
              <a:ext cx="2533154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4"/>
          <p:cNvGrpSpPr/>
          <p:nvPr/>
        </p:nvGrpSpPr>
        <p:grpSpPr>
          <a:xfrm>
            <a:off x="2841974" y="8900512"/>
            <a:ext cx="15541037" cy="849164"/>
            <a:chOff x="0" y="-38100"/>
            <a:chExt cx="4093113" cy="223648"/>
          </a:xfrm>
        </p:grpSpPr>
        <p:sp>
          <p:nvSpPr>
            <p:cNvPr id="179" name="Google Shape;179;p4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80" name="Google Shape;180;p4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4"/>
          <p:cNvGrpSpPr/>
          <p:nvPr/>
        </p:nvGrpSpPr>
        <p:grpSpPr>
          <a:xfrm>
            <a:off x="0" y="8900512"/>
            <a:ext cx="1822452" cy="849164"/>
            <a:chOff x="0" y="-38100"/>
            <a:chExt cx="479987" cy="223648"/>
          </a:xfrm>
        </p:grpSpPr>
        <p:sp>
          <p:nvSpPr>
            <p:cNvPr id="182" name="Google Shape;182;p4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183" name="Google Shape;183;p4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4"/>
          <p:cNvGrpSpPr/>
          <p:nvPr/>
        </p:nvGrpSpPr>
        <p:grpSpPr>
          <a:xfrm>
            <a:off x="279402" y="1566888"/>
            <a:ext cx="8523846" cy="7037184"/>
            <a:chOff x="0" y="-38100"/>
            <a:chExt cx="2244964" cy="1853415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2244964" cy="1815315"/>
            </a:xfrm>
            <a:custGeom>
              <a:rect b="b" l="l" r="r" t="t"/>
              <a:pathLst>
                <a:path extrusionOk="0" h="1815315" w="2244964">
                  <a:moveTo>
                    <a:pt x="17257" y="0"/>
                  </a:moveTo>
                  <a:lnTo>
                    <a:pt x="2227707" y="0"/>
                  </a:lnTo>
                  <a:cubicBezTo>
                    <a:pt x="2232284" y="0"/>
                    <a:pt x="2236673" y="1818"/>
                    <a:pt x="2239909" y="5054"/>
                  </a:cubicBezTo>
                  <a:cubicBezTo>
                    <a:pt x="2243146" y="8291"/>
                    <a:pt x="2244964" y="12680"/>
                    <a:pt x="2244964" y="17257"/>
                  </a:cubicBezTo>
                  <a:lnTo>
                    <a:pt x="2244964" y="1798057"/>
                  </a:lnTo>
                  <a:cubicBezTo>
                    <a:pt x="2244964" y="1807588"/>
                    <a:pt x="2237237" y="1815315"/>
                    <a:pt x="2227707" y="1815315"/>
                  </a:cubicBezTo>
                  <a:lnTo>
                    <a:pt x="17257" y="1815315"/>
                  </a:lnTo>
                  <a:cubicBezTo>
                    <a:pt x="7726" y="1815315"/>
                    <a:pt x="0" y="1807588"/>
                    <a:pt x="0" y="1798057"/>
                  </a:cubicBezTo>
                  <a:lnTo>
                    <a:pt x="0" y="17257"/>
                  </a:lnTo>
                  <a:cubicBezTo>
                    <a:pt x="0" y="7726"/>
                    <a:pt x="7726" y="0"/>
                    <a:pt x="17257" y="0"/>
                  </a:cubicBezTo>
                  <a:close/>
                </a:path>
              </a:pathLst>
            </a:custGeom>
            <a:solidFill>
              <a:srgbClr val="819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0" y="-38100"/>
              <a:ext cx="2244964" cy="1853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4"/>
          <p:cNvGrpSpPr/>
          <p:nvPr/>
        </p:nvGrpSpPr>
        <p:grpSpPr>
          <a:xfrm>
            <a:off x="9540384" y="1568569"/>
            <a:ext cx="8523846" cy="7037184"/>
            <a:chOff x="0" y="-38100"/>
            <a:chExt cx="2244964" cy="1853415"/>
          </a:xfrm>
        </p:grpSpPr>
        <p:sp>
          <p:nvSpPr>
            <p:cNvPr id="188" name="Google Shape;188;p4"/>
            <p:cNvSpPr/>
            <p:nvPr/>
          </p:nvSpPr>
          <p:spPr>
            <a:xfrm>
              <a:off x="0" y="0"/>
              <a:ext cx="2244964" cy="1815315"/>
            </a:xfrm>
            <a:custGeom>
              <a:rect b="b" l="l" r="r" t="t"/>
              <a:pathLst>
                <a:path extrusionOk="0" h="1815315" w="2244964">
                  <a:moveTo>
                    <a:pt x="17257" y="0"/>
                  </a:moveTo>
                  <a:lnTo>
                    <a:pt x="2227707" y="0"/>
                  </a:lnTo>
                  <a:cubicBezTo>
                    <a:pt x="2232284" y="0"/>
                    <a:pt x="2236673" y="1818"/>
                    <a:pt x="2239909" y="5054"/>
                  </a:cubicBezTo>
                  <a:cubicBezTo>
                    <a:pt x="2243146" y="8291"/>
                    <a:pt x="2244964" y="12680"/>
                    <a:pt x="2244964" y="17257"/>
                  </a:cubicBezTo>
                  <a:lnTo>
                    <a:pt x="2244964" y="1798057"/>
                  </a:lnTo>
                  <a:cubicBezTo>
                    <a:pt x="2244964" y="1807588"/>
                    <a:pt x="2237237" y="1815315"/>
                    <a:pt x="2227707" y="1815315"/>
                  </a:cubicBezTo>
                  <a:lnTo>
                    <a:pt x="17257" y="1815315"/>
                  </a:lnTo>
                  <a:cubicBezTo>
                    <a:pt x="7726" y="1815315"/>
                    <a:pt x="0" y="1807588"/>
                    <a:pt x="0" y="1798057"/>
                  </a:cubicBezTo>
                  <a:lnTo>
                    <a:pt x="0" y="17257"/>
                  </a:lnTo>
                  <a:cubicBezTo>
                    <a:pt x="0" y="7726"/>
                    <a:pt x="7726" y="0"/>
                    <a:pt x="17257" y="0"/>
                  </a:cubicBezTo>
                  <a:close/>
                </a:path>
              </a:pathLst>
            </a:custGeom>
            <a:solidFill>
              <a:srgbClr val="819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0" y="-38100"/>
              <a:ext cx="2244964" cy="1853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4"/>
          <p:cNvSpPr/>
          <p:nvPr/>
        </p:nvSpPr>
        <p:spPr>
          <a:xfrm>
            <a:off x="911226" y="2031948"/>
            <a:ext cx="657741" cy="657741"/>
          </a:xfrm>
          <a:custGeom>
            <a:rect b="b" l="l" r="r" t="t"/>
            <a:pathLst>
              <a:path extrusionOk="0" h="657741" w="657741">
                <a:moveTo>
                  <a:pt x="0" y="0"/>
                </a:moveTo>
                <a:lnTo>
                  <a:pt x="657741" y="0"/>
                </a:lnTo>
                <a:lnTo>
                  <a:pt x="657741" y="657741"/>
                </a:lnTo>
                <a:lnTo>
                  <a:pt x="0" y="6577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4"/>
          <p:cNvSpPr/>
          <p:nvPr/>
        </p:nvSpPr>
        <p:spPr>
          <a:xfrm>
            <a:off x="10078357" y="2009413"/>
            <a:ext cx="534135" cy="702810"/>
          </a:xfrm>
          <a:custGeom>
            <a:rect b="b" l="l" r="r" t="t"/>
            <a:pathLst>
              <a:path extrusionOk="0" h="702810" w="534135">
                <a:moveTo>
                  <a:pt x="0" y="0"/>
                </a:moveTo>
                <a:lnTo>
                  <a:pt x="534135" y="0"/>
                </a:lnTo>
                <a:lnTo>
                  <a:pt x="534135" y="702810"/>
                </a:lnTo>
                <a:lnTo>
                  <a:pt x="0" y="702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4"/>
          <p:cNvSpPr txBox="1"/>
          <p:nvPr/>
        </p:nvSpPr>
        <p:spPr>
          <a:xfrm>
            <a:off x="1822452" y="2046810"/>
            <a:ext cx="3981582" cy="1056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Project Objectives</a:t>
            </a:r>
            <a:endParaRPr/>
          </a:p>
          <a:p>
            <a:pPr indent="0" lvl="0" marL="0" marR="0" rtl="0" algn="l">
              <a:lnSpc>
                <a:spcPct val="111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99" u="none" cap="none" strike="noStrike">
              <a:solidFill>
                <a:srgbClr val="364735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200633" y="523384"/>
            <a:ext cx="9559434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Objectives and Client Requirements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10916793" y="2046810"/>
            <a:ext cx="5715374" cy="57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Client Requirements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532796" y="3026616"/>
            <a:ext cx="8017057" cy="5696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Develop a ReadAlert Proof of Concept (POC)</a:t>
            </a:r>
            <a:endParaRPr/>
          </a:p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Manage reader profiles, authors, books and reading records.</a:t>
            </a:r>
            <a:endParaRPr/>
          </a:p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Support book lookup with scan/log functionality.</a:t>
            </a:r>
            <a:endParaRPr/>
          </a:p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Establish a foundation for Huddle Up integration.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4" u="none" cap="none" strike="noStrike">
              <a:solidFill>
                <a:srgbClr val="36473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5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Delivery condition: Prototype / Proof of Concept.</a:t>
            </a:r>
            <a:endParaRPr/>
          </a:p>
          <a:p>
            <a:pPr indent="0" lvl="0" marL="0" marR="0" rtl="0" algn="l">
              <a:lnSpc>
                <a:spcPct val="161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594" u="none" cap="none" strike="noStrike">
              <a:solidFill>
                <a:srgbClr val="36473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9869375" y="3026616"/>
            <a:ext cx="7673621" cy="5238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Deliver Five Integrated ReadAlert Functional Modules</a:t>
            </a:r>
            <a:endParaRPr/>
          </a:p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Develop shared HTML, CSS and JavaScript frontend interfaces.</a:t>
            </a:r>
            <a:endParaRPr/>
          </a:p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Integrate ASP.NET Core API endpoints with SQL Server stored procedures.</a:t>
            </a:r>
            <a:endParaRPr/>
          </a:p>
          <a:p>
            <a:pPr indent="-323223" lvl="1" marL="646447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994"/>
              <a:buFont typeface="Arial"/>
              <a:buChar char="•"/>
            </a:pPr>
            <a:r>
              <a:rPr b="0" i="0" lang="en-US" sz="2994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Implement JWT-based authentication and tenant/member context handling.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4" u="none" cap="none" strike="noStrike">
              <a:solidFill>
                <a:srgbClr val="36473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5"/>
          <p:cNvGrpSpPr/>
          <p:nvPr/>
        </p:nvGrpSpPr>
        <p:grpSpPr>
          <a:xfrm>
            <a:off x="-58636" y="370324"/>
            <a:ext cx="4007734" cy="849164"/>
            <a:chOff x="0" y="-38100"/>
            <a:chExt cx="1055535" cy="223648"/>
          </a:xfrm>
        </p:grpSpPr>
        <p:sp>
          <p:nvSpPr>
            <p:cNvPr id="203" name="Google Shape;203;p5"/>
            <p:cNvSpPr/>
            <p:nvPr/>
          </p:nvSpPr>
          <p:spPr>
            <a:xfrm>
              <a:off x="0" y="0"/>
              <a:ext cx="1055535" cy="185548"/>
            </a:xfrm>
            <a:custGeom>
              <a:rect b="b" l="l" r="r" t="t"/>
              <a:pathLst>
                <a:path extrusionOk="0" h="185548" w="1055535">
                  <a:moveTo>
                    <a:pt x="0" y="0"/>
                  </a:moveTo>
                  <a:lnTo>
                    <a:pt x="1055535" y="0"/>
                  </a:lnTo>
                  <a:lnTo>
                    <a:pt x="1055535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04" name="Google Shape;204;p5"/>
            <p:cNvSpPr txBox="1"/>
            <p:nvPr/>
          </p:nvSpPr>
          <p:spPr>
            <a:xfrm>
              <a:off x="0" y="-38100"/>
              <a:ext cx="1055535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5"/>
          <p:cNvGrpSpPr/>
          <p:nvPr/>
        </p:nvGrpSpPr>
        <p:grpSpPr>
          <a:xfrm>
            <a:off x="2746963" y="8696394"/>
            <a:ext cx="15541037" cy="849164"/>
            <a:chOff x="0" y="-38100"/>
            <a:chExt cx="4093113" cy="223648"/>
          </a:xfrm>
        </p:grpSpPr>
        <p:sp>
          <p:nvSpPr>
            <p:cNvPr id="206" name="Google Shape;206;p5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07" name="Google Shape;207;p5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5"/>
          <p:cNvGrpSpPr/>
          <p:nvPr/>
        </p:nvGrpSpPr>
        <p:grpSpPr>
          <a:xfrm>
            <a:off x="0" y="8696394"/>
            <a:ext cx="1822452" cy="849164"/>
            <a:chOff x="0" y="-38100"/>
            <a:chExt cx="479987" cy="223648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10" name="Google Shape;210;p5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5"/>
          <p:cNvSpPr/>
          <p:nvPr/>
        </p:nvSpPr>
        <p:spPr>
          <a:xfrm>
            <a:off x="2746963" y="2474386"/>
            <a:ext cx="11681531" cy="6224018"/>
          </a:xfrm>
          <a:custGeom>
            <a:rect b="b" l="l" r="r" t="t"/>
            <a:pathLst>
              <a:path extrusionOk="0" h="6224018" w="11681531">
                <a:moveTo>
                  <a:pt x="0" y="0"/>
                </a:moveTo>
                <a:lnTo>
                  <a:pt x="11681530" y="0"/>
                </a:lnTo>
                <a:lnTo>
                  <a:pt x="11681530" y="6224018"/>
                </a:lnTo>
                <a:lnTo>
                  <a:pt x="0" y="6224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5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380249" y="579119"/>
            <a:ext cx="3267313" cy="563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Design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-58636" y="1775356"/>
            <a:ext cx="12725991" cy="56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9" u="none" cap="none" strike="noStrik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Three-layer architecture supporting five ReadAlert functional modules.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-1124776" y="1188085"/>
            <a:ext cx="9144000" cy="663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2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ReadAlert System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6"/>
          <p:cNvGrpSpPr/>
          <p:nvPr/>
        </p:nvGrpSpPr>
        <p:grpSpPr>
          <a:xfrm>
            <a:off x="-58636" y="370324"/>
            <a:ext cx="5566516" cy="849164"/>
            <a:chOff x="0" y="-38100"/>
            <a:chExt cx="1466078" cy="223648"/>
          </a:xfrm>
        </p:grpSpPr>
        <p:sp>
          <p:nvSpPr>
            <p:cNvPr id="221" name="Google Shape;221;p6"/>
            <p:cNvSpPr/>
            <p:nvPr/>
          </p:nvSpPr>
          <p:spPr>
            <a:xfrm>
              <a:off x="0" y="0"/>
              <a:ext cx="1466078" cy="185548"/>
            </a:xfrm>
            <a:custGeom>
              <a:rect b="b" l="l" r="r" t="t"/>
              <a:pathLst>
                <a:path extrusionOk="0"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22" name="Google Shape;222;p6"/>
            <p:cNvSpPr txBox="1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2746963" y="8696394"/>
            <a:ext cx="15541037" cy="849164"/>
            <a:chOff x="0" y="-38100"/>
            <a:chExt cx="4093113" cy="223648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0" y="8696394"/>
            <a:ext cx="1822452" cy="849164"/>
            <a:chOff x="0" y="-38100"/>
            <a:chExt cx="479987" cy="223648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663931" y="1726213"/>
            <a:ext cx="8480069" cy="6457785"/>
            <a:chOff x="0" y="-38100"/>
            <a:chExt cx="2233434" cy="1700816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2233434" cy="1662716"/>
            </a:xfrm>
            <a:custGeom>
              <a:rect b="b" l="l" r="r" t="t"/>
              <a:pathLst>
                <a:path extrusionOk="0" h="1662716" w="2233434">
                  <a:moveTo>
                    <a:pt x="17346" y="0"/>
                  </a:moveTo>
                  <a:lnTo>
                    <a:pt x="2216088" y="0"/>
                  </a:lnTo>
                  <a:cubicBezTo>
                    <a:pt x="2220688" y="0"/>
                    <a:pt x="2225100" y="1828"/>
                    <a:pt x="2228353" y="5081"/>
                  </a:cubicBezTo>
                  <a:cubicBezTo>
                    <a:pt x="2231606" y="8334"/>
                    <a:pt x="2233434" y="12746"/>
                    <a:pt x="2233434" y="17346"/>
                  </a:cubicBezTo>
                  <a:lnTo>
                    <a:pt x="2233434" y="1645370"/>
                  </a:lnTo>
                  <a:cubicBezTo>
                    <a:pt x="2233434" y="1654950"/>
                    <a:pt x="2225668" y="1662716"/>
                    <a:pt x="2216088" y="1662716"/>
                  </a:cubicBezTo>
                  <a:lnTo>
                    <a:pt x="17346" y="1662716"/>
                  </a:lnTo>
                  <a:cubicBezTo>
                    <a:pt x="7766" y="1662716"/>
                    <a:pt x="0" y="1654950"/>
                    <a:pt x="0" y="1645370"/>
                  </a:cubicBezTo>
                  <a:lnTo>
                    <a:pt x="0" y="17346"/>
                  </a:lnTo>
                  <a:cubicBezTo>
                    <a:pt x="0" y="7766"/>
                    <a:pt x="7766" y="0"/>
                    <a:pt x="17346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6"/>
            <p:cNvSpPr txBox="1"/>
            <p:nvPr/>
          </p:nvSpPr>
          <p:spPr>
            <a:xfrm>
              <a:off x="0" y="-38100"/>
              <a:ext cx="2233434" cy="1700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6"/>
          <p:cNvSpPr/>
          <p:nvPr/>
        </p:nvSpPr>
        <p:spPr>
          <a:xfrm>
            <a:off x="9364602" y="1602321"/>
            <a:ext cx="8528076" cy="6310450"/>
          </a:xfrm>
          <a:custGeom>
            <a:rect b="b" l="l" r="r" t="t"/>
            <a:pathLst>
              <a:path extrusionOk="0" h="6310450" w="8528076">
                <a:moveTo>
                  <a:pt x="0" y="0"/>
                </a:moveTo>
                <a:lnTo>
                  <a:pt x="8528076" y="0"/>
                </a:lnTo>
                <a:lnTo>
                  <a:pt x="8528076" y="6310450"/>
                </a:lnTo>
                <a:lnTo>
                  <a:pt x="0" y="6310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6"/>
          <p:cNvSpPr txBox="1"/>
          <p:nvPr/>
        </p:nvSpPr>
        <p:spPr>
          <a:xfrm>
            <a:off x="148776" y="552912"/>
            <a:ext cx="515169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Implementation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-258974" y="1257568"/>
            <a:ext cx="7426817" cy="613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Backend Integration &amp; API Design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787578" y="2004224"/>
            <a:ext cx="8135369" cy="6508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8" u="none" cap="none" strike="noStrike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Backend Implementation</a:t>
            </a:r>
            <a:endParaRPr/>
          </a:p>
          <a:p>
            <a:pPr indent="-325161" lvl="1" marL="650322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2B4529"/>
              </a:buClr>
              <a:buSzPts val="3012"/>
              <a:buFont typeface="Arial"/>
              <a:buChar char="•"/>
            </a:pPr>
            <a:r>
              <a:rPr b="0" i="0" lang="en-US" sz="3012" u="none" cap="none" strike="noStrike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Consolidated ASP.NET Core backend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12" u="none" cap="none" strike="noStrike">
              <a:solidFill>
                <a:srgbClr val="2B452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5161" lvl="1" marL="650322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2B4529"/>
              </a:buClr>
              <a:buSzPts val="3012"/>
              <a:buFont typeface="Arial"/>
              <a:buChar char="•"/>
            </a:pPr>
            <a:r>
              <a:rPr b="0" i="0" lang="en-US" sz="3012" u="none" cap="none" strike="noStrike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Module-specific GET, POST, PUT and DELETE endpoints.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12" u="none" cap="none" strike="noStrike">
              <a:solidFill>
                <a:srgbClr val="2B452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5161" lvl="1" marL="650322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2B4529"/>
              </a:buClr>
              <a:buSzPts val="3012"/>
              <a:buFont typeface="Arial"/>
              <a:buChar char="•"/>
            </a:pPr>
            <a:r>
              <a:rPr b="0" i="0" lang="en-US" sz="3012" u="none" cap="none" strike="noStrike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SQL Server operations through stored procedures.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12" u="none" cap="none" strike="noStrike">
              <a:solidFill>
                <a:srgbClr val="2B452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5161" lvl="1" marL="650322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2B4529"/>
              </a:buClr>
              <a:buSzPts val="3012"/>
              <a:buFont typeface="Arial"/>
              <a:buChar char="•"/>
            </a:pPr>
            <a:r>
              <a:rPr b="0" i="0" lang="en-US" sz="3012" u="none" cap="none" strike="noStrike">
                <a:solidFill>
                  <a:srgbClr val="2B4529"/>
                </a:solidFill>
                <a:latin typeface="Poppins"/>
                <a:ea typeface="Poppins"/>
                <a:cs typeface="Poppins"/>
                <a:sym typeface="Poppins"/>
              </a:rPr>
              <a:t>JWT validation and tenant/member context handling.</a:t>
            </a:r>
            <a:endParaRPr/>
          </a:p>
          <a:p>
            <a:pPr indent="0" lvl="0" marL="0" marR="0" rtl="0" algn="l">
              <a:lnSpc>
                <a:spcPct val="144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12" u="none" cap="none" strike="noStrike">
              <a:solidFill>
                <a:srgbClr val="2B452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7"/>
          <p:cNvGrpSpPr/>
          <p:nvPr/>
        </p:nvGrpSpPr>
        <p:grpSpPr>
          <a:xfrm>
            <a:off x="-58636" y="370324"/>
            <a:ext cx="5566516" cy="849164"/>
            <a:chOff x="0" y="-38100"/>
            <a:chExt cx="1466078" cy="223648"/>
          </a:xfrm>
        </p:grpSpPr>
        <p:sp>
          <p:nvSpPr>
            <p:cNvPr id="242" name="Google Shape;242;p7"/>
            <p:cNvSpPr/>
            <p:nvPr/>
          </p:nvSpPr>
          <p:spPr>
            <a:xfrm>
              <a:off x="0" y="0"/>
              <a:ext cx="1466078" cy="185548"/>
            </a:xfrm>
            <a:custGeom>
              <a:rect b="b" l="l" r="r" t="t"/>
              <a:pathLst>
                <a:path extrusionOk="0"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43" name="Google Shape;243;p7"/>
            <p:cNvSpPr txBox="1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7"/>
          <p:cNvGrpSpPr/>
          <p:nvPr/>
        </p:nvGrpSpPr>
        <p:grpSpPr>
          <a:xfrm>
            <a:off x="218272" y="1807206"/>
            <a:ext cx="8925728" cy="3215629"/>
            <a:chOff x="0" y="-38100"/>
            <a:chExt cx="2350809" cy="846915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2350809" cy="808815"/>
            </a:xfrm>
            <a:custGeom>
              <a:rect b="b" l="l" r="r" t="t"/>
              <a:pathLst>
                <a:path extrusionOk="0" h="808815" w="2350809">
                  <a:moveTo>
                    <a:pt x="16480" y="0"/>
                  </a:moveTo>
                  <a:lnTo>
                    <a:pt x="2334329" y="0"/>
                  </a:lnTo>
                  <a:cubicBezTo>
                    <a:pt x="2343431" y="0"/>
                    <a:pt x="2350809" y="7378"/>
                    <a:pt x="2350809" y="16480"/>
                  </a:cubicBezTo>
                  <a:lnTo>
                    <a:pt x="2350809" y="792335"/>
                  </a:lnTo>
                  <a:cubicBezTo>
                    <a:pt x="2350809" y="801436"/>
                    <a:pt x="2343431" y="808815"/>
                    <a:pt x="2334329" y="808815"/>
                  </a:cubicBezTo>
                  <a:lnTo>
                    <a:pt x="16480" y="808815"/>
                  </a:lnTo>
                  <a:cubicBezTo>
                    <a:pt x="7378" y="808815"/>
                    <a:pt x="0" y="801436"/>
                    <a:pt x="0" y="792335"/>
                  </a:cubicBezTo>
                  <a:lnTo>
                    <a:pt x="0" y="16480"/>
                  </a:lnTo>
                  <a:cubicBezTo>
                    <a:pt x="0" y="7378"/>
                    <a:pt x="7378" y="0"/>
                    <a:pt x="16480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0" y="-38100"/>
              <a:ext cx="2350809" cy="846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7"/>
          <p:cNvSpPr txBox="1"/>
          <p:nvPr/>
        </p:nvSpPr>
        <p:spPr>
          <a:xfrm>
            <a:off x="161925" y="2215333"/>
            <a:ext cx="8925728" cy="2504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8423" lvl="1" marL="536846" marR="0" rtl="0" algn="l">
              <a:lnSpc>
                <a:spcPct val="21001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486"/>
              <a:buFont typeface="Arial"/>
              <a:buChar char="•"/>
            </a:pPr>
            <a:r>
              <a:rPr b="1" i="0" lang="en-US" sz="2486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Tabs for Authors, Books, Reading Record, Reader Profile and Scan</a:t>
            </a:r>
            <a:endParaRPr/>
          </a:p>
          <a:p>
            <a:pPr indent="-268423" lvl="1" marL="536846" marR="0" rtl="0" algn="l">
              <a:lnSpc>
                <a:spcPct val="21001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486"/>
              <a:buFont typeface="Arial"/>
              <a:buChar char="•"/>
            </a:pPr>
            <a:r>
              <a:rPr b="1" i="0" lang="en-US" sz="2486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Move between modules without leaving the page</a:t>
            </a:r>
            <a:endParaRPr/>
          </a:p>
          <a:p>
            <a:pPr indent="0" lvl="0" marL="0" marR="0" rtl="0" algn="l">
              <a:lnSpc>
                <a:spcPct val="1856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86" u="none" cap="none" strike="noStrike">
              <a:solidFill>
                <a:srgbClr val="364735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248" name="Google Shape;248;p7"/>
          <p:cNvGrpSpPr/>
          <p:nvPr/>
        </p:nvGrpSpPr>
        <p:grpSpPr>
          <a:xfrm>
            <a:off x="9441134" y="1807206"/>
            <a:ext cx="8445298" cy="3215629"/>
            <a:chOff x="0" y="-38100"/>
            <a:chExt cx="2224276" cy="846915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2224276" cy="808815"/>
            </a:xfrm>
            <a:custGeom>
              <a:rect b="b" l="l" r="r" t="t"/>
              <a:pathLst>
                <a:path extrusionOk="0" h="808815" w="2224276">
                  <a:moveTo>
                    <a:pt x="17418" y="0"/>
                  </a:moveTo>
                  <a:lnTo>
                    <a:pt x="2206859" y="0"/>
                  </a:lnTo>
                  <a:cubicBezTo>
                    <a:pt x="2211478" y="0"/>
                    <a:pt x="2215908" y="1835"/>
                    <a:pt x="2219175" y="5101"/>
                  </a:cubicBezTo>
                  <a:cubicBezTo>
                    <a:pt x="2222441" y="8368"/>
                    <a:pt x="2224276" y="12798"/>
                    <a:pt x="2224276" y="17418"/>
                  </a:cubicBezTo>
                  <a:lnTo>
                    <a:pt x="2224276" y="791397"/>
                  </a:lnTo>
                  <a:cubicBezTo>
                    <a:pt x="2224276" y="796017"/>
                    <a:pt x="2222441" y="800447"/>
                    <a:pt x="2219175" y="803713"/>
                  </a:cubicBezTo>
                  <a:cubicBezTo>
                    <a:pt x="2215908" y="806980"/>
                    <a:pt x="2211478" y="808815"/>
                    <a:pt x="2206859" y="808815"/>
                  </a:cubicBezTo>
                  <a:lnTo>
                    <a:pt x="17418" y="808815"/>
                  </a:lnTo>
                  <a:cubicBezTo>
                    <a:pt x="12798" y="808815"/>
                    <a:pt x="8368" y="806980"/>
                    <a:pt x="5101" y="803713"/>
                  </a:cubicBezTo>
                  <a:cubicBezTo>
                    <a:pt x="1835" y="800447"/>
                    <a:pt x="0" y="796017"/>
                    <a:pt x="0" y="791397"/>
                  </a:cubicBezTo>
                  <a:lnTo>
                    <a:pt x="0" y="17418"/>
                  </a:lnTo>
                  <a:cubicBezTo>
                    <a:pt x="0" y="12798"/>
                    <a:pt x="1835" y="8368"/>
                    <a:pt x="5101" y="5101"/>
                  </a:cubicBezTo>
                  <a:cubicBezTo>
                    <a:pt x="8368" y="1835"/>
                    <a:pt x="12798" y="0"/>
                    <a:pt x="17418" y="0"/>
                  </a:cubicBezTo>
                  <a:close/>
                </a:path>
              </a:pathLst>
            </a:custGeom>
            <a:solidFill>
              <a:srgbClr val="CEDE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0" y="-38100"/>
              <a:ext cx="2224276" cy="846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7"/>
          <p:cNvSpPr/>
          <p:nvPr/>
        </p:nvSpPr>
        <p:spPr>
          <a:xfrm>
            <a:off x="6368004" y="5314045"/>
            <a:ext cx="6863512" cy="4039986"/>
          </a:xfrm>
          <a:custGeom>
            <a:rect b="b" l="l" r="r" t="t"/>
            <a:pathLst>
              <a:path extrusionOk="0" h="4039986" w="6863512">
                <a:moveTo>
                  <a:pt x="0" y="0"/>
                </a:moveTo>
                <a:lnTo>
                  <a:pt x="6863512" y="0"/>
                </a:lnTo>
                <a:lnTo>
                  <a:pt x="6863512" y="4039986"/>
                </a:lnTo>
                <a:lnTo>
                  <a:pt x="0" y="4039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7"/>
          <p:cNvSpPr txBox="1"/>
          <p:nvPr/>
        </p:nvSpPr>
        <p:spPr>
          <a:xfrm>
            <a:off x="161925" y="530606"/>
            <a:ext cx="6126446" cy="131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29" u="none" cap="none" strike="noStrike">
                <a:solidFill>
                  <a:srgbClr val="F1ECEC"/>
                </a:solidFill>
                <a:latin typeface="Arial"/>
                <a:ea typeface="Arial"/>
                <a:cs typeface="Arial"/>
                <a:sym typeface="Arial"/>
              </a:rPr>
              <a:t>Shared Frontend Design</a:t>
            </a:r>
            <a:endParaRPr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729" u="none" cap="none" strike="noStrike">
              <a:solidFill>
                <a:srgbClr val="F1ECE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4204491" y="1226185"/>
            <a:ext cx="987901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page, five modules, one look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9577071" y="2242494"/>
            <a:ext cx="8925728" cy="2504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8423" lvl="1" marL="536846" marR="0" rtl="0" algn="l">
              <a:lnSpc>
                <a:spcPct val="21001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486"/>
              <a:buFont typeface="Arial"/>
              <a:buChar char="•"/>
            </a:pPr>
            <a:r>
              <a:rPr b="1" i="0" lang="en-US" sz="2486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readalert-theme.css holds the colours, fonts and spacing</a:t>
            </a:r>
            <a:endParaRPr/>
          </a:p>
          <a:p>
            <a:pPr indent="-268423" lvl="1" marL="536846" marR="0" rtl="0" algn="l">
              <a:lnSpc>
                <a:spcPct val="21001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486"/>
              <a:buFont typeface="Arial"/>
              <a:buChar char="•"/>
            </a:pPr>
            <a:r>
              <a:rPr b="1" i="0" lang="en-US" sz="2486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Change the look in one place</a:t>
            </a:r>
            <a:endParaRPr/>
          </a:p>
          <a:p>
            <a:pPr indent="0" lvl="0" marL="0" marR="0" rtl="0" algn="l">
              <a:lnSpc>
                <a:spcPct val="1856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86" u="none" cap="none" strike="noStrike">
              <a:solidFill>
                <a:srgbClr val="364735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8"/>
          <p:cNvGrpSpPr/>
          <p:nvPr/>
        </p:nvGrpSpPr>
        <p:grpSpPr>
          <a:xfrm>
            <a:off x="-58636" y="370324"/>
            <a:ext cx="6224769" cy="849164"/>
            <a:chOff x="0" y="-38100"/>
            <a:chExt cx="1639445" cy="223648"/>
          </a:xfrm>
        </p:grpSpPr>
        <p:sp>
          <p:nvSpPr>
            <p:cNvPr id="261" name="Google Shape;261;p8"/>
            <p:cNvSpPr/>
            <p:nvPr/>
          </p:nvSpPr>
          <p:spPr>
            <a:xfrm>
              <a:off x="0" y="0"/>
              <a:ext cx="1639445" cy="185548"/>
            </a:xfrm>
            <a:custGeom>
              <a:rect b="b" l="l" r="r" t="t"/>
              <a:pathLst>
                <a:path extrusionOk="0" h="185548" w="1639445">
                  <a:moveTo>
                    <a:pt x="0" y="0"/>
                  </a:moveTo>
                  <a:lnTo>
                    <a:pt x="1639445" y="0"/>
                  </a:lnTo>
                  <a:lnTo>
                    <a:pt x="1639445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62" name="Google Shape;262;p8"/>
            <p:cNvSpPr txBox="1"/>
            <p:nvPr/>
          </p:nvSpPr>
          <p:spPr>
            <a:xfrm>
              <a:off x="0" y="-38100"/>
              <a:ext cx="1639445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8"/>
          <p:cNvGrpSpPr/>
          <p:nvPr/>
        </p:nvGrpSpPr>
        <p:grpSpPr>
          <a:xfrm>
            <a:off x="153935" y="9791769"/>
            <a:ext cx="17962347" cy="257341"/>
            <a:chOff x="0" y="-38100"/>
            <a:chExt cx="4730824" cy="67777"/>
          </a:xfrm>
        </p:grpSpPr>
        <p:sp>
          <p:nvSpPr>
            <p:cNvPr id="264" name="Google Shape;264;p8"/>
            <p:cNvSpPr/>
            <p:nvPr/>
          </p:nvSpPr>
          <p:spPr>
            <a:xfrm>
              <a:off x="0" y="0"/>
              <a:ext cx="4730824" cy="29677"/>
            </a:xfrm>
            <a:custGeom>
              <a:rect b="b" l="l" r="r" t="t"/>
              <a:pathLst>
                <a:path extrusionOk="0" h="29677" w="4730824">
                  <a:moveTo>
                    <a:pt x="0" y="0"/>
                  </a:moveTo>
                  <a:lnTo>
                    <a:pt x="4730824" y="0"/>
                  </a:lnTo>
                  <a:lnTo>
                    <a:pt x="4730824" y="29677"/>
                  </a:lnTo>
                  <a:lnTo>
                    <a:pt x="0" y="29677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65" name="Google Shape;265;p8"/>
            <p:cNvSpPr txBox="1"/>
            <p:nvPr/>
          </p:nvSpPr>
          <p:spPr>
            <a:xfrm>
              <a:off x="0" y="-38100"/>
              <a:ext cx="4730824" cy="6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153935" y="2100378"/>
            <a:ext cx="9214014" cy="6862233"/>
            <a:chOff x="0" y="-38100"/>
            <a:chExt cx="2426736" cy="1807337"/>
          </a:xfrm>
        </p:grpSpPr>
        <p:sp>
          <p:nvSpPr>
            <p:cNvPr id="267" name="Google Shape;267;p8"/>
            <p:cNvSpPr/>
            <p:nvPr/>
          </p:nvSpPr>
          <p:spPr>
            <a:xfrm>
              <a:off x="0" y="0"/>
              <a:ext cx="2426736" cy="1769237"/>
            </a:xfrm>
            <a:custGeom>
              <a:rect b="b" l="l" r="r" t="t"/>
              <a:pathLst>
                <a:path extrusionOk="0" h="1769237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735628"/>
                  </a:lnTo>
                  <a:cubicBezTo>
                    <a:pt x="2426736" y="1754190"/>
                    <a:pt x="2411689" y="1769237"/>
                    <a:pt x="2393127" y="1769237"/>
                  </a:cubicBezTo>
                  <a:lnTo>
                    <a:pt x="33609" y="1769237"/>
                  </a:lnTo>
                  <a:cubicBezTo>
                    <a:pt x="15047" y="1769237"/>
                    <a:pt x="0" y="1754190"/>
                    <a:pt x="0" y="1735628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-38100"/>
              <a:ext cx="2426736" cy="1807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Frontend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Reader Profile interface developed for viewing and managing reader details.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Backend Integration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Designed to communicate with ReadAlert's ASP.NET Core API.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Management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Uses the project's SQL Server and stored procedure architecture.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325885" y="3839146"/>
            <a:ext cx="8870114" cy="192288"/>
            <a:chOff x="0" y="-38100"/>
            <a:chExt cx="2336162" cy="50643"/>
          </a:xfrm>
        </p:grpSpPr>
        <p:sp>
          <p:nvSpPr>
            <p:cNvPr id="270" name="Google Shape;270;p8"/>
            <p:cNvSpPr/>
            <p:nvPr/>
          </p:nvSpPr>
          <p:spPr>
            <a:xfrm>
              <a:off x="0" y="0"/>
              <a:ext cx="2336162" cy="12543"/>
            </a:xfrm>
            <a:custGeom>
              <a:rect b="b" l="l" r="r" t="t"/>
              <a:pathLst>
                <a:path extrusionOk="0"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71" name="Google Shape;271;p8"/>
            <p:cNvSpPr txBox="1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8"/>
          <p:cNvSpPr/>
          <p:nvPr/>
        </p:nvSpPr>
        <p:spPr>
          <a:xfrm>
            <a:off x="325885" y="2470601"/>
            <a:ext cx="490572" cy="490572"/>
          </a:xfrm>
          <a:custGeom>
            <a:rect b="b" l="l" r="r" t="t"/>
            <a:pathLst>
              <a:path extrusionOk="0" h="490572" w="490572">
                <a:moveTo>
                  <a:pt x="0" y="0"/>
                </a:moveTo>
                <a:lnTo>
                  <a:pt x="490572" y="0"/>
                </a:lnTo>
                <a:lnTo>
                  <a:pt x="490572" y="490572"/>
                </a:lnTo>
                <a:lnTo>
                  <a:pt x="0" y="490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8"/>
          <p:cNvSpPr/>
          <p:nvPr/>
        </p:nvSpPr>
        <p:spPr>
          <a:xfrm>
            <a:off x="9476018" y="3452161"/>
            <a:ext cx="8226570" cy="5003721"/>
          </a:xfrm>
          <a:custGeom>
            <a:rect b="b" l="l" r="r" t="t"/>
            <a:pathLst>
              <a:path extrusionOk="0" h="5003721" w="8226570">
                <a:moveTo>
                  <a:pt x="0" y="0"/>
                </a:moveTo>
                <a:lnTo>
                  <a:pt x="8226570" y="0"/>
                </a:lnTo>
                <a:lnTo>
                  <a:pt x="8226570" y="5003722"/>
                </a:lnTo>
                <a:lnTo>
                  <a:pt x="0" y="500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8"/>
          <p:cNvSpPr txBox="1"/>
          <p:nvPr/>
        </p:nvSpPr>
        <p:spPr>
          <a:xfrm>
            <a:off x="153935" y="588472"/>
            <a:ext cx="5811861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12224" y="1407473"/>
            <a:ext cx="6095282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B4529"/>
                </a:solidFill>
                <a:latin typeface="Open Sans"/>
                <a:ea typeface="Open Sans"/>
                <a:cs typeface="Open Sans"/>
                <a:sym typeface="Open Sans"/>
              </a:rPr>
              <a:t>Reader Profile Management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828784" y="2499661"/>
            <a:ext cx="3713262" cy="45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Module Functionality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829231" y="4174309"/>
            <a:ext cx="8366768" cy="4878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Reader Identity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Organizes profile information around individual members.</a:t>
            </a:r>
            <a:endParaRPr/>
          </a:p>
          <a:p>
            <a:pPr indent="0" lvl="0" marL="0" marR="0" rtl="0" algn="l">
              <a:lnSpc>
                <a:spcPct val="157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Profile Data Flow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Connects the interface with the API and database.</a:t>
            </a:r>
            <a:endParaRPr/>
          </a:p>
          <a:p>
            <a:pPr indent="0" lvl="0" marL="0" marR="0" rtl="0" algn="l">
              <a:lnSpc>
                <a:spcPct val="157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Multi-Tenant Context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Uses Tenant ID and Member ID for profile identification.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828362" y="3059731"/>
            <a:ext cx="8306746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Reader Profile interface developed for viewing and managing reader details</a:t>
            </a:r>
            <a:endParaRPr/>
          </a:p>
        </p:txBody>
      </p:sp>
      <p:grpSp>
        <p:nvGrpSpPr>
          <p:cNvPr id="280" name="Google Shape;280;p8"/>
          <p:cNvGrpSpPr/>
          <p:nvPr/>
        </p:nvGrpSpPr>
        <p:grpSpPr>
          <a:xfrm>
            <a:off x="1091130" y="9013530"/>
            <a:ext cx="15541037" cy="736039"/>
            <a:chOff x="0" y="-38100"/>
            <a:chExt cx="4093113" cy="193854"/>
          </a:xfrm>
        </p:grpSpPr>
        <p:sp>
          <p:nvSpPr>
            <p:cNvPr id="281" name="Google Shape;281;p8"/>
            <p:cNvSpPr/>
            <p:nvPr/>
          </p:nvSpPr>
          <p:spPr>
            <a:xfrm>
              <a:off x="0" y="0"/>
              <a:ext cx="4093113" cy="155754"/>
            </a:xfrm>
            <a:custGeom>
              <a:rect b="b" l="l" r="r" t="t"/>
              <a:pathLst>
                <a:path extrusionOk="0" h="155754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55754"/>
                  </a:lnTo>
                  <a:lnTo>
                    <a:pt x="0" y="155754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82" name="Google Shape;282;p8"/>
            <p:cNvSpPr txBox="1"/>
            <p:nvPr/>
          </p:nvSpPr>
          <p:spPr>
            <a:xfrm>
              <a:off x="0" y="-38100"/>
              <a:ext cx="4093113" cy="193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8"/>
          <p:cNvSpPr txBox="1"/>
          <p:nvPr/>
        </p:nvSpPr>
        <p:spPr>
          <a:xfrm>
            <a:off x="5012615" y="9201150"/>
            <a:ext cx="7944390" cy="448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Reader Profile → ReadAlert API → SQL Server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9"/>
          <p:cNvGrpSpPr/>
          <p:nvPr/>
        </p:nvGrpSpPr>
        <p:grpSpPr>
          <a:xfrm>
            <a:off x="-58636" y="370324"/>
            <a:ext cx="6167530" cy="849164"/>
            <a:chOff x="0" y="-38100"/>
            <a:chExt cx="1624370" cy="223648"/>
          </a:xfrm>
        </p:grpSpPr>
        <p:sp>
          <p:nvSpPr>
            <p:cNvPr id="289" name="Google Shape;289;p9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90" name="Google Shape;290;p9"/>
            <p:cNvSpPr txBox="1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228958" y="2088067"/>
            <a:ext cx="9214014" cy="7656508"/>
            <a:chOff x="0" y="-38100"/>
            <a:chExt cx="2426736" cy="2016529"/>
          </a:xfrm>
        </p:grpSpPr>
        <p:sp>
          <p:nvSpPr>
            <p:cNvPr id="292" name="Google Shape;292;p9"/>
            <p:cNvSpPr/>
            <p:nvPr/>
          </p:nvSpPr>
          <p:spPr>
            <a:xfrm>
              <a:off x="0" y="0"/>
              <a:ext cx="2426736" cy="1978429"/>
            </a:xfrm>
            <a:custGeom>
              <a:rect b="b" l="l" r="r" t="t"/>
              <a:pathLst>
                <a:path extrusionOk="0" h="1978429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944819"/>
                  </a:lnTo>
                  <a:cubicBezTo>
                    <a:pt x="2426736" y="1963381"/>
                    <a:pt x="2411689" y="1978429"/>
                    <a:pt x="2393127" y="1978429"/>
                  </a:cubicBezTo>
                  <a:lnTo>
                    <a:pt x="33609" y="1978429"/>
                  </a:lnTo>
                  <a:cubicBezTo>
                    <a:pt x="15047" y="1978429"/>
                    <a:pt x="0" y="1963381"/>
                    <a:pt x="0" y="1944819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9"/>
            <p:cNvSpPr txBox="1"/>
            <p:nvPr/>
          </p:nvSpPr>
          <p:spPr>
            <a:xfrm>
              <a:off x="0" y="-38100"/>
              <a:ext cx="2426736" cy="2016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9"/>
          <p:cNvGrpSpPr/>
          <p:nvPr/>
        </p:nvGrpSpPr>
        <p:grpSpPr>
          <a:xfrm>
            <a:off x="400908" y="3826835"/>
            <a:ext cx="8870114" cy="192288"/>
            <a:chOff x="0" y="-38100"/>
            <a:chExt cx="2336162" cy="50643"/>
          </a:xfrm>
        </p:grpSpPr>
        <p:sp>
          <p:nvSpPr>
            <p:cNvPr id="295" name="Google Shape;295;p9"/>
            <p:cNvSpPr/>
            <p:nvPr/>
          </p:nvSpPr>
          <p:spPr>
            <a:xfrm>
              <a:off x="0" y="0"/>
              <a:ext cx="2336162" cy="12543"/>
            </a:xfrm>
            <a:custGeom>
              <a:rect b="b" l="l" r="r" t="t"/>
              <a:pathLst>
                <a:path extrusionOk="0"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296" name="Google Shape;296;p9"/>
            <p:cNvSpPr txBox="1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9"/>
          <p:cNvSpPr/>
          <p:nvPr/>
        </p:nvSpPr>
        <p:spPr>
          <a:xfrm>
            <a:off x="9716701" y="2499741"/>
            <a:ext cx="8346850" cy="4462538"/>
          </a:xfrm>
          <a:custGeom>
            <a:rect b="b" l="l" r="r" t="t"/>
            <a:pathLst>
              <a:path extrusionOk="0" h="4462538" w="8346850">
                <a:moveTo>
                  <a:pt x="0" y="0"/>
                </a:moveTo>
                <a:lnTo>
                  <a:pt x="8346850" y="0"/>
                </a:lnTo>
                <a:lnTo>
                  <a:pt x="8346850" y="4462538"/>
                </a:lnTo>
                <a:lnTo>
                  <a:pt x="0" y="4462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9"/>
          <p:cNvSpPr txBox="1"/>
          <p:nvPr/>
        </p:nvSpPr>
        <p:spPr>
          <a:xfrm>
            <a:off x="228958" y="551959"/>
            <a:ext cx="669746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228958" y="1404687"/>
            <a:ext cx="6095282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B4529"/>
                </a:solidFill>
                <a:latin typeface="Open Sans"/>
                <a:ea typeface="Open Sans"/>
                <a:cs typeface="Open Sans"/>
                <a:sym typeface="Open Sans"/>
              </a:rPr>
              <a:t>Author Catalogue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902998" y="2442591"/>
            <a:ext cx="3584079" cy="46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Module Functionality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903385" y="3056945"/>
            <a:ext cx="8306746" cy="76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Provides a central catalogue for organising book information and associated authors.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1040549" y="4219148"/>
            <a:ext cx="8032418" cy="5147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Search, view and manage author information.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Author-related API endpoints and CRUD operations.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Open Library author lookup and SQL Server stored procedures.</a:t>
            </a:r>
            <a:endParaRPr/>
          </a:p>
          <a:p>
            <a:pPr indent="0" lvl="0" marL="0" marR="0" rtl="0" algn="l">
              <a:lnSpc>
                <a:spcPct val="114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9994550" y="7152673"/>
            <a:ext cx="7791152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Author catalogue supports external and internal Author searches</a:t>
            </a:r>
            <a:endParaRPr/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 can be filtered by ascending and descending order.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10"/>
          <p:cNvGrpSpPr/>
          <p:nvPr/>
        </p:nvGrpSpPr>
        <p:grpSpPr>
          <a:xfrm>
            <a:off x="-58636" y="370324"/>
            <a:ext cx="6167530" cy="849164"/>
            <a:chOff x="0" y="-38100"/>
            <a:chExt cx="1624370" cy="223648"/>
          </a:xfrm>
        </p:grpSpPr>
        <p:sp>
          <p:nvSpPr>
            <p:cNvPr id="310" name="Google Shape;310;p10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311" name="Google Shape;311;p10"/>
            <p:cNvSpPr txBox="1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0"/>
          <p:cNvGrpSpPr/>
          <p:nvPr/>
        </p:nvGrpSpPr>
        <p:grpSpPr>
          <a:xfrm>
            <a:off x="153935" y="2100378"/>
            <a:ext cx="9214014" cy="7656508"/>
            <a:chOff x="0" y="-38100"/>
            <a:chExt cx="2426736" cy="2016529"/>
          </a:xfrm>
        </p:grpSpPr>
        <p:sp>
          <p:nvSpPr>
            <p:cNvPr id="313" name="Google Shape;313;p10"/>
            <p:cNvSpPr/>
            <p:nvPr/>
          </p:nvSpPr>
          <p:spPr>
            <a:xfrm>
              <a:off x="0" y="0"/>
              <a:ext cx="2426736" cy="1978429"/>
            </a:xfrm>
            <a:custGeom>
              <a:rect b="b" l="l" r="r" t="t"/>
              <a:pathLst>
                <a:path extrusionOk="0" h="1978429" w="2426736">
                  <a:moveTo>
                    <a:pt x="33609" y="0"/>
                  </a:moveTo>
                  <a:lnTo>
                    <a:pt x="2393127" y="0"/>
                  </a:lnTo>
                  <a:cubicBezTo>
                    <a:pt x="2411689" y="0"/>
                    <a:pt x="2426736" y="15047"/>
                    <a:pt x="2426736" y="33609"/>
                  </a:cubicBezTo>
                  <a:lnTo>
                    <a:pt x="2426736" y="1944819"/>
                  </a:lnTo>
                  <a:cubicBezTo>
                    <a:pt x="2426736" y="1963381"/>
                    <a:pt x="2411689" y="1978429"/>
                    <a:pt x="2393127" y="1978429"/>
                  </a:cubicBezTo>
                  <a:lnTo>
                    <a:pt x="33609" y="1978429"/>
                  </a:lnTo>
                  <a:cubicBezTo>
                    <a:pt x="15047" y="1978429"/>
                    <a:pt x="0" y="1963381"/>
                    <a:pt x="0" y="1944819"/>
                  </a:cubicBezTo>
                  <a:lnTo>
                    <a:pt x="0" y="33609"/>
                  </a:lnTo>
                  <a:cubicBezTo>
                    <a:pt x="0" y="15047"/>
                    <a:pt x="15047" y="0"/>
                    <a:pt x="33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0"/>
            <p:cNvSpPr txBox="1"/>
            <p:nvPr/>
          </p:nvSpPr>
          <p:spPr>
            <a:xfrm>
              <a:off x="0" y="-38100"/>
              <a:ext cx="2426736" cy="2016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0"/>
          <p:cNvGrpSpPr/>
          <p:nvPr/>
        </p:nvGrpSpPr>
        <p:grpSpPr>
          <a:xfrm>
            <a:off x="325885" y="3839146"/>
            <a:ext cx="8870114" cy="192288"/>
            <a:chOff x="0" y="-38100"/>
            <a:chExt cx="2336162" cy="50643"/>
          </a:xfrm>
        </p:grpSpPr>
        <p:sp>
          <p:nvSpPr>
            <p:cNvPr id="316" name="Google Shape;316;p10"/>
            <p:cNvSpPr/>
            <p:nvPr/>
          </p:nvSpPr>
          <p:spPr>
            <a:xfrm>
              <a:off x="0" y="0"/>
              <a:ext cx="2336162" cy="12543"/>
            </a:xfrm>
            <a:custGeom>
              <a:rect b="b" l="l" r="r" t="t"/>
              <a:pathLst>
                <a:path extrusionOk="0" h="12543" w="2336162">
                  <a:moveTo>
                    <a:pt x="0" y="0"/>
                  </a:moveTo>
                  <a:lnTo>
                    <a:pt x="2336162" y="0"/>
                  </a:lnTo>
                  <a:lnTo>
                    <a:pt x="233616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317" name="Google Shape;317;p10"/>
            <p:cNvSpPr txBox="1"/>
            <p:nvPr/>
          </p:nvSpPr>
          <p:spPr>
            <a:xfrm>
              <a:off x="0" y="-38100"/>
              <a:ext cx="2336162" cy="50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0"/>
          <p:cNvSpPr/>
          <p:nvPr/>
        </p:nvSpPr>
        <p:spPr>
          <a:xfrm>
            <a:off x="9727103" y="2715887"/>
            <a:ext cx="8159330" cy="5715537"/>
          </a:xfrm>
          <a:custGeom>
            <a:rect b="b" l="l" r="r" t="t"/>
            <a:pathLst>
              <a:path extrusionOk="0" h="5715537" w="8159330">
                <a:moveTo>
                  <a:pt x="0" y="0"/>
                </a:moveTo>
                <a:lnTo>
                  <a:pt x="8159330" y="0"/>
                </a:lnTo>
                <a:lnTo>
                  <a:pt x="8159330" y="5715537"/>
                </a:lnTo>
                <a:lnTo>
                  <a:pt x="0" y="5715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10"/>
          <p:cNvSpPr txBox="1"/>
          <p:nvPr/>
        </p:nvSpPr>
        <p:spPr>
          <a:xfrm>
            <a:off x="228958" y="551959"/>
            <a:ext cx="669746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153935" y="1407473"/>
            <a:ext cx="6095282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B4529"/>
                </a:solidFill>
                <a:latin typeface="Open Sans"/>
                <a:ea typeface="Open Sans"/>
                <a:cs typeface="Open Sans"/>
                <a:sym typeface="Open Sans"/>
              </a:rPr>
              <a:t> Book Catalogue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827975" y="2454902"/>
            <a:ext cx="3584079" cy="464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Module Functionality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569871" y="4336234"/>
            <a:ext cx="8032418" cy="56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Book Management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Search, view, add and edit catalogue records.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Linked</a:t>
            </a: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Authors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Manage associations between books and author records.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External Lookup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Retrieves book details using ISBN lookup through Open Library, reducing manual data entry.</a:t>
            </a:r>
            <a:endParaRPr/>
          </a:p>
          <a:p>
            <a:pPr indent="0" lvl="0" marL="0" marR="0" rtl="0" algn="l">
              <a:lnSpc>
                <a:spcPct val="114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3647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828362" y="3069256"/>
            <a:ext cx="8306746" cy="76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Provides a central catalogue for organising book information and associated authors.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10303319" y="8738022"/>
            <a:ext cx="7364909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Book Catalogue interface displaying book records, linked authors </a:t>
            </a:r>
            <a:endParaRPr/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and management options.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11"/>
          <p:cNvGrpSpPr/>
          <p:nvPr/>
        </p:nvGrpSpPr>
        <p:grpSpPr>
          <a:xfrm>
            <a:off x="-58636" y="370324"/>
            <a:ext cx="6167530" cy="849164"/>
            <a:chOff x="0" y="-38100"/>
            <a:chExt cx="1624370" cy="223648"/>
          </a:xfrm>
        </p:grpSpPr>
        <p:sp>
          <p:nvSpPr>
            <p:cNvPr id="331" name="Google Shape;331;p11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332" name="Google Shape;332;p11"/>
            <p:cNvSpPr txBox="1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1"/>
          <p:cNvSpPr/>
          <p:nvPr/>
        </p:nvSpPr>
        <p:spPr>
          <a:xfrm>
            <a:off x="9590756" y="3208993"/>
            <a:ext cx="8295677" cy="5275243"/>
          </a:xfrm>
          <a:custGeom>
            <a:rect b="b" l="l" r="r" t="t"/>
            <a:pathLst>
              <a:path extrusionOk="0" h="5275243" w="8295677">
                <a:moveTo>
                  <a:pt x="0" y="0"/>
                </a:moveTo>
                <a:lnTo>
                  <a:pt x="8295677" y="0"/>
                </a:lnTo>
                <a:lnTo>
                  <a:pt x="8295677" y="5275242"/>
                </a:lnTo>
                <a:lnTo>
                  <a:pt x="0" y="5275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1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162283" y="543704"/>
            <a:ext cx="6095282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Reading Records</a:t>
            </a:r>
            <a:endParaRPr/>
          </a:p>
        </p:txBody>
      </p:sp>
      <p:grpSp>
        <p:nvGrpSpPr>
          <p:cNvPr id="336" name="Google Shape;336;p11"/>
          <p:cNvGrpSpPr/>
          <p:nvPr/>
        </p:nvGrpSpPr>
        <p:grpSpPr>
          <a:xfrm>
            <a:off x="228958" y="1503128"/>
            <a:ext cx="8915042" cy="2679857"/>
            <a:chOff x="0" y="-123087"/>
            <a:chExt cx="11886723" cy="3573141"/>
          </a:xfrm>
        </p:grpSpPr>
        <p:grpSp>
          <p:nvGrpSpPr>
            <p:cNvPr id="337" name="Google Shape;337;p11"/>
            <p:cNvGrpSpPr/>
            <p:nvPr/>
          </p:nvGrpSpPr>
          <p:grpSpPr>
            <a:xfrm>
              <a:off x="0" y="-123087"/>
              <a:ext cx="11886723" cy="3573141"/>
              <a:chOff x="0" y="-38100"/>
              <a:chExt cx="3679369" cy="1106016"/>
            </a:xfrm>
          </p:grpSpPr>
          <p:sp>
            <p:nvSpPr>
              <p:cNvPr id="338" name="Google Shape;338;p11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1"/>
              <p:cNvSpPr txBox="1"/>
              <p:nvPr/>
            </p:nvSpPr>
            <p:spPr>
              <a:xfrm>
                <a:off x="0" y="-38100"/>
                <a:ext cx="3679369" cy="1106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" name="Google Shape;340;p11"/>
            <p:cNvGrpSpPr/>
            <p:nvPr/>
          </p:nvGrpSpPr>
          <p:grpSpPr>
            <a:xfrm>
              <a:off x="221828" y="1215568"/>
              <a:ext cx="11443067" cy="163614"/>
              <a:chOff x="0" y="-38100"/>
              <a:chExt cx="3542042" cy="50643"/>
            </a:xfrm>
          </p:grpSpPr>
          <p:sp>
            <p:nvSpPr>
              <p:cNvPr id="341" name="Google Shape;341;p11"/>
              <p:cNvSpPr/>
              <p:nvPr/>
            </p:nvSpPr>
            <p:spPr>
              <a:xfrm>
                <a:off x="0" y="0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342" name="Google Shape;342;p11"/>
              <p:cNvSpPr txBox="1"/>
              <p:nvPr/>
            </p:nvSpPr>
            <p:spPr>
              <a:xfrm>
                <a:off x="0" y="-38100"/>
                <a:ext cx="3542042" cy="50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3" name="Google Shape;343;p11"/>
            <p:cNvSpPr txBox="1"/>
            <p:nvPr/>
          </p:nvSpPr>
          <p:spPr>
            <a:xfrm>
              <a:off x="374758" y="686094"/>
              <a:ext cx="10716284" cy="547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What it does</a:t>
              </a:r>
              <a:endParaRPr/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326409" y="1569748"/>
              <a:ext cx="10362381" cy="15250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A personal reading list for each member</a:t>
              </a:r>
              <a:endParaRPr/>
            </a:p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Track books you want to read, are reading, or have finished</a:t>
              </a:r>
              <a:endParaRPr/>
            </a:p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Add dates, a rating, a review and a private note</a:t>
              </a:r>
              <a:endParaRPr/>
            </a:p>
            <a:p>
              <a:pPr indent="0" lvl="0" marL="0" marR="0" rtl="0" algn="l">
                <a:lnSpc>
                  <a:spcPct val="114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722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11"/>
          <p:cNvGrpSpPr/>
          <p:nvPr/>
        </p:nvGrpSpPr>
        <p:grpSpPr>
          <a:xfrm>
            <a:off x="228958" y="4461066"/>
            <a:ext cx="8915042" cy="2679857"/>
            <a:chOff x="0" y="-123087"/>
            <a:chExt cx="11886723" cy="3573141"/>
          </a:xfrm>
        </p:grpSpPr>
        <p:grpSp>
          <p:nvGrpSpPr>
            <p:cNvPr id="346" name="Google Shape;346;p11"/>
            <p:cNvGrpSpPr/>
            <p:nvPr/>
          </p:nvGrpSpPr>
          <p:grpSpPr>
            <a:xfrm>
              <a:off x="0" y="-123087"/>
              <a:ext cx="11886723" cy="3573141"/>
              <a:chOff x="0" y="-38100"/>
              <a:chExt cx="3679369" cy="1106016"/>
            </a:xfrm>
          </p:grpSpPr>
          <p:sp>
            <p:nvSpPr>
              <p:cNvPr id="347" name="Google Shape;347;p11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1"/>
              <p:cNvSpPr txBox="1"/>
              <p:nvPr/>
            </p:nvSpPr>
            <p:spPr>
              <a:xfrm>
                <a:off x="0" y="-38100"/>
                <a:ext cx="3679369" cy="1106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11"/>
            <p:cNvGrpSpPr/>
            <p:nvPr/>
          </p:nvGrpSpPr>
          <p:grpSpPr>
            <a:xfrm>
              <a:off x="221828" y="1215568"/>
              <a:ext cx="11443067" cy="163614"/>
              <a:chOff x="0" y="-38100"/>
              <a:chExt cx="3542042" cy="50643"/>
            </a:xfrm>
          </p:grpSpPr>
          <p:sp>
            <p:nvSpPr>
              <p:cNvPr id="350" name="Google Shape;350;p11"/>
              <p:cNvSpPr/>
              <p:nvPr/>
            </p:nvSpPr>
            <p:spPr>
              <a:xfrm>
                <a:off x="0" y="0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351" name="Google Shape;351;p11"/>
              <p:cNvSpPr txBox="1"/>
              <p:nvPr/>
            </p:nvSpPr>
            <p:spPr>
              <a:xfrm>
                <a:off x="0" y="-38100"/>
                <a:ext cx="3542042" cy="50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2" name="Google Shape;352;p11"/>
            <p:cNvSpPr txBox="1"/>
            <p:nvPr/>
          </p:nvSpPr>
          <p:spPr>
            <a:xfrm>
              <a:off x="374758" y="686094"/>
              <a:ext cx="10716284" cy="547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How it works</a:t>
              </a:r>
              <a:endParaRPr/>
            </a:p>
          </p:txBody>
        </p:sp>
        <p:sp>
          <p:nvSpPr>
            <p:cNvPr id="353" name="Google Shape;353;p11"/>
            <p:cNvSpPr txBox="1"/>
            <p:nvPr/>
          </p:nvSpPr>
          <p:spPr>
            <a:xfrm>
              <a:off x="1326409" y="1569748"/>
              <a:ext cx="10362381" cy="15250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Four endpoints: GET, POST, PUT and DELETE</a:t>
              </a:r>
              <a:endParaRPr/>
            </a:p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One stored procedure: ral_UserBooks_CRUD_JSON</a:t>
              </a:r>
              <a:endParaRPr/>
            </a:p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Tenant ID and Member ID come only from the JWT</a:t>
              </a:r>
              <a:endParaRPr/>
            </a:p>
            <a:p>
              <a:pPr indent="0" lvl="0" marL="0" marR="0" rtl="0" algn="l">
                <a:lnSpc>
                  <a:spcPct val="114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722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1"/>
          <p:cNvGrpSpPr/>
          <p:nvPr/>
        </p:nvGrpSpPr>
        <p:grpSpPr>
          <a:xfrm>
            <a:off x="228958" y="7419005"/>
            <a:ext cx="8915042" cy="2679857"/>
            <a:chOff x="0" y="-123087"/>
            <a:chExt cx="11886723" cy="3573141"/>
          </a:xfrm>
        </p:grpSpPr>
        <p:grpSp>
          <p:nvGrpSpPr>
            <p:cNvPr id="355" name="Google Shape;355;p11"/>
            <p:cNvGrpSpPr/>
            <p:nvPr/>
          </p:nvGrpSpPr>
          <p:grpSpPr>
            <a:xfrm>
              <a:off x="0" y="-123087"/>
              <a:ext cx="11886723" cy="3573141"/>
              <a:chOff x="0" y="-38100"/>
              <a:chExt cx="3679369" cy="1106016"/>
            </a:xfrm>
          </p:grpSpPr>
          <p:sp>
            <p:nvSpPr>
              <p:cNvPr id="356" name="Google Shape;356;p11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1"/>
              <p:cNvSpPr txBox="1"/>
              <p:nvPr/>
            </p:nvSpPr>
            <p:spPr>
              <a:xfrm>
                <a:off x="0" y="-38100"/>
                <a:ext cx="3679369" cy="1106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8" name="Google Shape;358;p11"/>
            <p:cNvGrpSpPr/>
            <p:nvPr/>
          </p:nvGrpSpPr>
          <p:grpSpPr>
            <a:xfrm>
              <a:off x="221828" y="1215568"/>
              <a:ext cx="11443067" cy="163614"/>
              <a:chOff x="0" y="-38100"/>
              <a:chExt cx="3542042" cy="50643"/>
            </a:xfrm>
          </p:grpSpPr>
          <p:sp>
            <p:nvSpPr>
              <p:cNvPr id="359" name="Google Shape;359;p11"/>
              <p:cNvSpPr/>
              <p:nvPr/>
            </p:nvSpPr>
            <p:spPr>
              <a:xfrm>
                <a:off x="0" y="0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360" name="Google Shape;360;p11"/>
              <p:cNvSpPr txBox="1"/>
              <p:nvPr/>
            </p:nvSpPr>
            <p:spPr>
              <a:xfrm>
                <a:off x="0" y="-38100"/>
                <a:ext cx="3542042" cy="50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1" name="Google Shape;361;p11"/>
            <p:cNvSpPr txBox="1"/>
            <p:nvPr/>
          </p:nvSpPr>
          <p:spPr>
            <a:xfrm>
              <a:off x="374758" y="686094"/>
              <a:ext cx="10716284" cy="547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Keeps data safe</a:t>
              </a:r>
              <a:endParaRPr/>
            </a:p>
          </p:txBody>
        </p:sp>
        <p:sp>
          <p:nvSpPr>
            <p:cNvPr id="362" name="Google Shape;362;p11"/>
            <p:cNvSpPr txBox="1"/>
            <p:nvPr/>
          </p:nvSpPr>
          <p:spPr>
            <a:xfrm>
              <a:off x="1326409" y="1569748"/>
              <a:ext cx="10362381" cy="15250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Each action needs its own permission</a:t>
              </a:r>
              <a:endParaRPr/>
            </a:p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One entry per book, and the book must exist in the catalogue</a:t>
              </a:r>
              <a:endParaRPr/>
            </a:p>
            <a:p>
              <a:pPr indent="-185998" lvl="1" marL="371995" marR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1"/>
                <a:buFont typeface="Arial"/>
                <a:buChar char="•"/>
              </a:pPr>
              <a:r>
                <a:rPr b="1" i="0" lang="en-US" sz="1722" u="none" cap="none" strike="noStrike">
                  <a:solidFill>
                    <a:srgbClr val="364735"/>
                  </a:solidFill>
                  <a:latin typeface="Arial"/>
                  <a:ea typeface="Arial"/>
                  <a:cs typeface="Arial"/>
                  <a:sym typeface="Arial"/>
                </a:rPr>
                <a:t>Soft delete keeps the history</a:t>
              </a:r>
              <a:endParaRPr/>
            </a:p>
            <a:p>
              <a:pPr indent="0" lvl="0" marL="0" marR="0" rtl="0" algn="l">
                <a:lnSpc>
                  <a:spcPct val="114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722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h2ff35f18ac13cdd5_0_0"/>
          <p:cNvGrpSpPr/>
          <p:nvPr/>
        </p:nvGrpSpPr>
        <p:grpSpPr>
          <a:xfrm>
            <a:off x="-58636" y="370323"/>
            <a:ext cx="6168064" cy="849169"/>
            <a:chOff x="0" y="-38100"/>
            <a:chExt cx="1624500" cy="223648"/>
          </a:xfrm>
        </p:grpSpPr>
        <p:sp>
          <p:nvSpPr>
            <p:cNvPr id="368" name="Google Shape;368;h2ff35f18ac13cdd5_0_0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369" name="Google Shape;369;h2ff35f18ac13cdd5_0_0"/>
            <p:cNvSpPr txBox="1"/>
            <p:nvPr/>
          </p:nvSpPr>
          <p:spPr>
            <a:xfrm>
              <a:off x="0" y="-38100"/>
              <a:ext cx="1624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h2ff35f18ac13cdd5_0_0"/>
          <p:cNvSpPr txBox="1"/>
          <p:nvPr/>
        </p:nvSpPr>
        <p:spPr>
          <a:xfrm>
            <a:off x="228958" y="551959"/>
            <a:ext cx="669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Module Implementation</a:t>
            </a:r>
            <a:endParaRPr/>
          </a:p>
        </p:txBody>
      </p:sp>
      <p:sp>
        <p:nvSpPr>
          <p:cNvPr id="371" name="Google Shape;371;h2ff35f18ac13cdd5_0_0"/>
          <p:cNvSpPr txBox="1"/>
          <p:nvPr/>
        </p:nvSpPr>
        <p:spPr>
          <a:xfrm>
            <a:off x="16632167" y="372110"/>
            <a:ext cx="125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372" name="Google Shape;372;h2ff35f18ac13cdd5_0_0"/>
          <p:cNvSpPr txBox="1"/>
          <p:nvPr/>
        </p:nvSpPr>
        <p:spPr>
          <a:xfrm>
            <a:off x="228937" y="1484925"/>
            <a:ext cx="158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B4529"/>
                </a:solidFill>
                <a:latin typeface="Open Sans"/>
                <a:ea typeface="Open Sans"/>
                <a:cs typeface="Open Sans"/>
                <a:sym typeface="Open Sans"/>
              </a:rPr>
              <a:t>Book Lookup / Scan </a:t>
            </a:r>
            <a:r>
              <a:rPr lang="en-US" sz="1900">
                <a:solidFill>
                  <a:srgbClr val="364735"/>
                </a:solidFill>
                <a:latin typeface="Lora"/>
                <a:ea typeface="Lora"/>
                <a:cs typeface="Lora"/>
                <a:sym typeface="Lora"/>
              </a:rPr>
              <a:t>Provides a central catalogue for organising book information and associated authors.</a:t>
            </a:r>
            <a:endParaRPr sz="1900"/>
          </a:p>
        </p:txBody>
      </p:sp>
      <p:grpSp>
        <p:nvGrpSpPr>
          <p:cNvPr id="373" name="Google Shape;373;h2ff35f18ac13cdd5_0_0"/>
          <p:cNvGrpSpPr/>
          <p:nvPr/>
        </p:nvGrpSpPr>
        <p:grpSpPr>
          <a:xfrm>
            <a:off x="228950" y="1970504"/>
            <a:ext cx="8915245" cy="7788867"/>
            <a:chOff x="0" y="-123086"/>
            <a:chExt cx="11886993" cy="3573367"/>
          </a:xfrm>
        </p:grpSpPr>
        <p:grpSp>
          <p:nvGrpSpPr>
            <p:cNvPr id="374" name="Google Shape;374;h2ff35f18ac13cdd5_0_0"/>
            <p:cNvGrpSpPr/>
            <p:nvPr/>
          </p:nvGrpSpPr>
          <p:grpSpPr>
            <a:xfrm>
              <a:off x="0" y="-123086"/>
              <a:ext cx="11886993" cy="3573367"/>
              <a:chOff x="0" y="-38100"/>
              <a:chExt cx="3679500" cy="1106100"/>
            </a:xfrm>
          </p:grpSpPr>
          <p:sp>
            <p:nvSpPr>
              <p:cNvPr id="375" name="Google Shape;375;h2ff35f18ac13cdd5_0_0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h2ff35f18ac13cdd5_0_0"/>
              <p:cNvSpPr txBox="1"/>
              <p:nvPr/>
            </p:nvSpPr>
            <p:spPr>
              <a:xfrm>
                <a:off x="0" y="-38100"/>
                <a:ext cx="3679500" cy="110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h2ff35f18ac13cdd5_0_0"/>
            <p:cNvGrpSpPr/>
            <p:nvPr/>
          </p:nvGrpSpPr>
          <p:grpSpPr>
            <a:xfrm>
              <a:off x="69178" y="140708"/>
              <a:ext cx="11595571" cy="163796"/>
              <a:chOff x="-47251" y="-370802"/>
              <a:chExt cx="3589293" cy="50700"/>
            </a:xfrm>
          </p:grpSpPr>
          <p:sp>
            <p:nvSpPr>
              <p:cNvPr id="378" name="Google Shape;378;h2ff35f18ac13cdd5_0_0"/>
              <p:cNvSpPr/>
              <p:nvPr/>
            </p:nvSpPr>
            <p:spPr>
              <a:xfrm>
                <a:off x="0" y="-341518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379" name="Google Shape;379;h2ff35f18ac13cdd5_0_0"/>
              <p:cNvSpPr txBox="1"/>
              <p:nvPr/>
            </p:nvSpPr>
            <p:spPr>
              <a:xfrm>
                <a:off x="-47251" y="-370802"/>
                <a:ext cx="3542100" cy="5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0" name="Google Shape;380;h2ff35f18ac13cdd5_0_0"/>
            <p:cNvSpPr txBox="1"/>
            <p:nvPr/>
          </p:nvSpPr>
          <p:spPr>
            <a:xfrm>
              <a:off x="221825" y="-6"/>
              <a:ext cx="107163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What it does</a:t>
              </a:r>
              <a:endParaRPr/>
            </a:p>
          </p:txBody>
        </p:sp>
        <p:sp>
          <p:nvSpPr>
            <p:cNvPr id="381" name="Google Shape;381;h2ff35f18ac13cdd5_0_0"/>
            <p:cNvSpPr txBox="1"/>
            <p:nvPr/>
          </p:nvSpPr>
          <p:spPr>
            <a:xfrm>
              <a:off x="521083" y="409466"/>
              <a:ext cx="10539300" cy="25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2">
                  <a:solidFill>
                    <a:srgbClr val="364735"/>
                  </a:solidFill>
                </a:rPr>
                <a:t>Search &amp; Discover</a:t>
              </a:r>
              <a:endParaRPr sz="1700">
                <a:solidFill>
                  <a:srgbClr val="F1F5F9"/>
                </a:solidFill>
              </a:endParaRPr>
            </a:p>
            <a:p>
              <a:pPr indent="-337947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2"/>
                <a:buChar char="●"/>
              </a:pPr>
              <a:r>
                <a:rPr b="1" lang="en-US" sz="1722">
                  <a:solidFill>
                    <a:srgbClr val="364735"/>
                  </a:solidFill>
                </a:rPr>
                <a:t>Search the catalogue by title, author, or ISBN — results returned with match count and full book details.</a:t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2">
                  <a:solidFill>
                    <a:srgbClr val="364735"/>
                  </a:solidFill>
                </a:rPr>
                <a:t>Scan by ISBN-13</a:t>
              </a:r>
              <a:endParaRPr b="1" sz="2022">
                <a:solidFill>
                  <a:srgbClr val="364735"/>
                </a:solidFill>
              </a:endParaRPr>
            </a:p>
            <a:p>
              <a:pPr indent="-33794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2"/>
                <a:buChar char="●"/>
              </a:pPr>
              <a:r>
                <a:rPr b="1" lang="en-US" sz="1722">
                  <a:solidFill>
                    <a:srgbClr val="364735"/>
                  </a:solidFill>
                </a:rPr>
                <a:t>Scan a physical book barcode to instantly look it up — no manual title entry required.</a:t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91440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2">
                  <a:solidFill>
                    <a:srgbClr val="364735"/>
                  </a:solidFill>
                </a:rPr>
                <a:t>Automatic Audit Logging</a:t>
              </a:r>
              <a:endParaRPr b="1" sz="2022">
                <a:solidFill>
                  <a:srgbClr val="364735"/>
                </a:solidFill>
              </a:endParaRPr>
            </a:p>
            <a:p>
              <a:pPr indent="-33794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2"/>
                <a:buChar char="●"/>
              </a:pPr>
              <a:r>
                <a:rPr b="1" lang="en-US" sz="1722">
                  <a:solidFill>
                    <a:srgbClr val="364735"/>
                  </a:solidFill>
                </a:rPr>
                <a:t>Every search &amp; scan is logged: type, search text, result status (MATCHED MULTIPLE_MATCHES NOT_MATCHED).</a:t>
              </a:r>
              <a:endParaRPr sz="800">
                <a:solidFill>
                  <a:srgbClr val="94A3B8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2">
                  <a:solidFill>
                    <a:srgbClr val="364735"/>
                  </a:solidFill>
                </a:rPr>
                <a:t>Reading List Management</a:t>
              </a:r>
              <a:endParaRPr b="1" sz="2022">
                <a:solidFill>
                  <a:srgbClr val="364735"/>
                </a:solidFill>
              </a:endParaRPr>
            </a:p>
            <a:p>
              <a:pPr indent="-33794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1722"/>
                <a:buChar char="●"/>
              </a:pPr>
              <a:r>
                <a:rPr b="1" lang="en-US" sz="1722">
                  <a:solidFill>
                    <a:srgbClr val="364735"/>
                  </a:solidFill>
                </a:rPr>
                <a:t>Add, view, update and remove books from a personal reading list - status, rating, review and finished date tracked per member.</a:t>
              </a:r>
              <a:endParaRPr sz="800">
                <a:solidFill>
                  <a:srgbClr val="94A3B8"/>
                </a:solidFill>
              </a:endParaRPr>
            </a:p>
            <a:p>
              <a:pPr indent="0" lvl="0" marL="0" rtl="0" algn="l">
                <a:lnSpc>
                  <a:spcPct val="1400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0" marR="0" rtl="0" algn="l">
                <a:lnSpc>
                  <a:spcPct val="114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2">
                <a:solidFill>
                  <a:srgbClr val="364735"/>
                </a:solidFill>
              </a:endParaRPr>
            </a:p>
          </p:txBody>
        </p:sp>
      </p:grpSp>
      <p:grpSp>
        <p:nvGrpSpPr>
          <p:cNvPr id="382" name="Google Shape;382;h2ff35f18ac13cdd5_0_0"/>
          <p:cNvGrpSpPr/>
          <p:nvPr/>
        </p:nvGrpSpPr>
        <p:grpSpPr>
          <a:xfrm>
            <a:off x="9271925" y="1970504"/>
            <a:ext cx="8915245" cy="7788867"/>
            <a:chOff x="0" y="-123086"/>
            <a:chExt cx="11886993" cy="3573367"/>
          </a:xfrm>
        </p:grpSpPr>
        <p:grpSp>
          <p:nvGrpSpPr>
            <p:cNvPr id="383" name="Google Shape;383;h2ff35f18ac13cdd5_0_0"/>
            <p:cNvGrpSpPr/>
            <p:nvPr/>
          </p:nvGrpSpPr>
          <p:grpSpPr>
            <a:xfrm>
              <a:off x="0" y="-123086"/>
              <a:ext cx="11886993" cy="3573367"/>
              <a:chOff x="0" y="-38100"/>
              <a:chExt cx="3679500" cy="1106100"/>
            </a:xfrm>
          </p:grpSpPr>
          <p:sp>
            <p:nvSpPr>
              <p:cNvPr id="384" name="Google Shape;384;h2ff35f18ac13cdd5_0_0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h2ff35f18ac13cdd5_0_0"/>
              <p:cNvSpPr txBox="1"/>
              <p:nvPr/>
            </p:nvSpPr>
            <p:spPr>
              <a:xfrm>
                <a:off x="0" y="-38100"/>
                <a:ext cx="3679500" cy="110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h2ff35f18ac13cdd5_0_0"/>
            <p:cNvGrpSpPr/>
            <p:nvPr/>
          </p:nvGrpSpPr>
          <p:grpSpPr>
            <a:xfrm>
              <a:off x="69178" y="140708"/>
              <a:ext cx="11595571" cy="163796"/>
              <a:chOff x="-47251" y="-370802"/>
              <a:chExt cx="3589293" cy="50700"/>
            </a:xfrm>
          </p:grpSpPr>
          <p:sp>
            <p:nvSpPr>
              <p:cNvPr id="387" name="Google Shape;387;h2ff35f18ac13cdd5_0_0"/>
              <p:cNvSpPr/>
              <p:nvPr/>
            </p:nvSpPr>
            <p:spPr>
              <a:xfrm>
                <a:off x="0" y="-341518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388" name="Google Shape;388;h2ff35f18ac13cdd5_0_0"/>
              <p:cNvSpPr txBox="1"/>
              <p:nvPr/>
            </p:nvSpPr>
            <p:spPr>
              <a:xfrm>
                <a:off x="-47251" y="-370802"/>
                <a:ext cx="3542100" cy="5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9" name="Google Shape;389;h2ff35f18ac13cdd5_0_0"/>
            <p:cNvSpPr txBox="1"/>
            <p:nvPr/>
          </p:nvSpPr>
          <p:spPr>
            <a:xfrm>
              <a:off x="221825" y="-6"/>
              <a:ext cx="107163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How</a:t>
              </a:r>
              <a:r>
                <a:rPr b="1" i="0" lang="en-US" sz="2499" u="none" cap="none" strike="noStrike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 it </a:t>
              </a:r>
              <a:r>
                <a:rPr b="1" lang="en-US" sz="2499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works</a:t>
              </a:r>
              <a:endParaRPr/>
            </a:p>
          </p:txBody>
        </p:sp>
      </p:grpSp>
      <p:sp>
        <p:nvSpPr>
          <p:cNvPr id="390" name="Google Shape;390;h2ff35f18ac13cdd5_0_0"/>
          <p:cNvSpPr txBox="1"/>
          <p:nvPr/>
        </p:nvSpPr>
        <p:spPr>
          <a:xfrm>
            <a:off x="9538613" y="3118683"/>
            <a:ext cx="7904400" cy="7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Endpoints</a:t>
            </a:r>
            <a:endParaRPr b="1" sz="2022">
              <a:solidFill>
                <a:srgbClr val="364735"/>
              </a:solidFill>
            </a:endParaRPr>
          </a:p>
          <a:p>
            <a:pPr indent="-337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1722"/>
              <a:buChar char="●"/>
            </a:pPr>
            <a:r>
              <a:rPr b="1" lang="en-US" sz="1722">
                <a:solidFill>
                  <a:srgbClr val="364735"/>
                </a:solidFill>
              </a:rPr>
              <a:t>Six routes: POST · GET · PUT · DELETE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/books/search  /books/scan  /user-books</a:t>
            </a:r>
            <a:endParaRPr b="1" sz="17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Stored Procedures</a:t>
            </a:r>
            <a:endParaRPr b="1" sz="2022">
              <a:solidFill>
                <a:srgbClr val="364735"/>
              </a:solidFill>
            </a:endParaRPr>
          </a:p>
          <a:p>
            <a:pPr indent="-337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1722"/>
              <a:buChar char="●"/>
            </a:pPr>
            <a:r>
              <a:rPr b="1" lang="en-US" sz="1722">
                <a:solidFill>
                  <a:srgbClr val="364735"/>
                </a:solidFill>
              </a:rPr>
              <a:t>Two dedicated lookup SPs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ral_SearchBooks_JSON — Title / Author / ISBN / Any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ral_ScanBook_JSON — delegates via ISBN_SCAN</a:t>
            </a:r>
            <a:endParaRPr b="1" sz="1722">
              <a:solidFill>
                <a:srgbClr val="364735"/>
              </a:solidFill>
            </a:endParaRPr>
          </a:p>
          <a:p>
            <a:pPr indent="0" lvl="0" marL="0" rtl="0" algn="l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JWT Validation</a:t>
            </a:r>
            <a:endParaRPr b="1" sz="2022">
              <a:solidFill>
                <a:srgbClr val="364735"/>
              </a:solidFill>
            </a:endParaRPr>
          </a:p>
          <a:p>
            <a:pPr indent="-337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1722"/>
              <a:buChar char="●"/>
            </a:pPr>
            <a:r>
              <a:rPr b="1" lang="en-US" sz="1722">
                <a:solidFill>
                  <a:srgbClr val="364735"/>
                </a:solidFill>
              </a:rPr>
              <a:t>Inline — no ASP.NET middleware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JsonWebTokenHandler.ValidateTokenAsync()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tenant_id + member_id from token claims only — never from request body</a:t>
            </a:r>
            <a:endParaRPr sz="700">
              <a:solidFill>
                <a:srgbClr val="94A3B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Tenant Isolation</a:t>
            </a:r>
            <a:endParaRPr b="1" sz="2022">
              <a:solidFill>
                <a:srgbClr val="364735"/>
              </a:solidFill>
            </a:endParaRPr>
          </a:p>
          <a:p>
            <a:pPr indent="-3379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1722"/>
              <a:buChar char="●"/>
            </a:pPr>
            <a:r>
              <a:rPr b="1" lang="en-US" sz="1722">
                <a:solidFill>
                  <a:srgbClr val="364735"/>
                </a:solidFill>
              </a:rPr>
              <a:t>SESSION_CONTEXT set before every SP call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Database enforces isolation independently — no application-side WHERE clause required.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rtl="0" algn="l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2">
              <a:solidFill>
                <a:srgbClr val="36473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h2ff35f18ac13cdd5_0_95"/>
          <p:cNvGrpSpPr/>
          <p:nvPr/>
        </p:nvGrpSpPr>
        <p:grpSpPr>
          <a:xfrm>
            <a:off x="-58636" y="370323"/>
            <a:ext cx="6168064" cy="849169"/>
            <a:chOff x="0" y="-38100"/>
            <a:chExt cx="1624500" cy="223648"/>
          </a:xfrm>
        </p:grpSpPr>
        <p:sp>
          <p:nvSpPr>
            <p:cNvPr id="396" name="Google Shape;396;h2ff35f18ac13cdd5_0_95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397" name="Google Shape;397;h2ff35f18ac13cdd5_0_95"/>
            <p:cNvSpPr txBox="1"/>
            <p:nvPr/>
          </p:nvSpPr>
          <p:spPr>
            <a:xfrm>
              <a:off x="0" y="-38100"/>
              <a:ext cx="1624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h2ff35f18ac13cdd5_0_95"/>
          <p:cNvSpPr txBox="1"/>
          <p:nvPr/>
        </p:nvSpPr>
        <p:spPr>
          <a:xfrm>
            <a:off x="228958" y="551959"/>
            <a:ext cx="669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Design</a:t>
            </a:r>
            <a:endParaRPr/>
          </a:p>
        </p:txBody>
      </p:sp>
      <p:sp>
        <p:nvSpPr>
          <p:cNvPr id="399" name="Google Shape;399;h2ff35f18ac13cdd5_0_95"/>
          <p:cNvSpPr txBox="1"/>
          <p:nvPr/>
        </p:nvSpPr>
        <p:spPr>
          <a:xfrm>
            <a:off x="16632167" y="372110"/>
            <a:ext cx="125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400" name="Google Shape;400;h2ff35f18ac13cdd5_0_95"/>
          <p:cNvSpPr txBox="1"/>
          <p:nvPr/>
        </p:nvSpPr>
        <p:spPr>
          <a:xfrm>
            <a:off x="228958" y="1484931"/>
            <a:ext cx="609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B4529"/>
                </a:solidFill>
                <a:latin typeface="Open Sans"/>
                <a:ea typeface="Open Sans"/>
                <a:cs typeface="Open Sans"/>
                <a:sym typeface="Open Sans"/>
              </a:rPr>
              <a:t>Book Lookup / Scan</a:t>
            </a:r>
            <a:endParaRPr/>
          </a:p>
        </p:txBody>
      </p:sp>
      <p:grpSp>
        <p:nvGrpSpPr>
          <p:cNvPr id="401" name="Google Shape;401;h2ff35f18ac13cdd5_0_95"/>
          <p:cNvGrpSpPr/>
          <p:nvPr/>
        </p:nvGrpSpPr>
        <p:grpSpPr>
          <a:xfrm>
            <a:off x="228950" y="1970504"/>
            <a:ext cx="8915245" cy="7788867"/>
            <a:chOff x="0" y="-123086"/>
            <a:chExt cx="11886993" cy="3573367"/>
          </a:xfrm>
        </p:grpSpPr>
        <p:grpSp>
          <p:nvGrpSpPr>
            <p:cNvPr id="402" name="Google Shape;402;h2ff35f18ac13cdd5_0_95"/>
            <p:cNvGrpSpPr/>
            <p:nvPr/>
          </p:nvGrpSpPr>
          <p:grpSpPr>
            <a:xfrm>
              <a:off x="0" y="-123086"/>
              <a:ext cx="11886993" cy="3573367"/>
              <a:chOff x="0" y="-38100"/>
              <a:chExt cx="3679500" cy="1106100"/>
            </a:xfrm>
          </p:grpSpPr>
          <p:sp>
            <p:nvSpPr>
              <p:cNvPr id="403" name="Google Shape;403;h2ff35f18ac13cdd5_0_95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h2ff35f18ac13cdd5_0_95"/>
              <p:cNvSpPr txBox="1"/>
              <p:nvPr/>
            </p:nvSpPr>
            <p:spPr>
              <a:xfrm>
                <a:off x="0" y="-38100"/>
                <a:ext cx="3679500" cy="110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5" name="Google Shape;405;h2ff35f18ac13cdd5_0_95"/>
            <p:cNvGrpSpPr/>
            <p:nvPr/>
          </p:nvGrpSpPr>
          <p:grpSpPr>
            <a:xfrm>
              <a:off x="69178" y="140708"/>
              <a:ext cx="11595571" cy="163796"/>
              <a:chOff x="-47251" y="-370802"/>
              <a:chExt cx="3589293" cy="50700"/>
            </a:xfrm>
          </p:grpSpPr>
          <p:sp>
            <p:nvSpPr>
              <p:cNvPr id="406" name="Google Shape;406;h2ff35f18ac13cdd5_0_95"/>
              <p:cNvSpPr/>
              <p:nvPr/>
            </p:nvSpPr>
            <p:spPr>
              <a:xfrm>
                <a:off x="0" y="-341518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407" name="Google Shape;407;h2ff35f18ac13cdd5_0_95"/>
              <p:cNvSpPr txBox="1"/>
              <p:nvPr/>
            </p:nvSpPr>
            <p:spPr>
              <a:xfrm>
                <a:off x="-47251" y="-370802"/>
                <a:ext cx="3542100" cy="5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8" name="Google Shape;408;h2ff35f18ac13cdd5_0_95"/>
            <p:cNvSpPr txBox="1"/>
            <p:nvPr/>
          </p:nvSpPr>
          <p:spPr>
            <a:xfrm>
              <a:off x="221825" y="-6"/>
              <a:ext cx="107163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Request Flow</a:t>
              </a:r>
              <a:endParaRPr/>
            </a:p>
          </p:txBody>
        </p:sp>
        <p:sp>
          <p:nvSpPr>
            <p:cNvPr id="409" name="Google Shape;409;h2ff35f18ac13cdd5_0_95"/>
            <p:cNvSpPr txBox="1"/>
            <p:nvPr/>
          </p:nvSpPr>
          <p:spPr>
            <a:xfrm>
              <a:off x="521083" y="388111"/>
              <a:ext cx="10539300" cy="29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5699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2022"/>
                <a:buAutoNum type="arabicPeriod"/>
              </a:pPr>
              <a:r>
                <a:rPr b="1" lang="en-US" sz="2022">
                  <a:solidFill>
                    <a:srgbClr val="364735"/>
                  </a:solidFill>
                </a:rPr>
                <a:t>Widget sends request</a:t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2">
                  <a:solidFill>
                    <a:srgbClr val="364735"/>
                  </a:solidFill>
                </a:rPr>
                <a:t>User types a search or enters ISBN-13. Frontend calls POST /books/search or /books/scan with Bearer token.</a:t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22">
                <a:solidFill>
                  <a:srgbClr val="364735"/>
                </a:solidFill>
              </a:endParaRPr>
            </a:p>
            <a:p>
              <a:pPr indent="-35699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2022"/>
                <a:buAutoNum type="arabicPeriod"/>
              </a:pPr>
              <a:r>
                <a:rPr b="1" lang="en-US" sz="2022">
                  <a:solidFill>
                    <a:srgbClr val="364735"/>
                  </a:solidFill>
                </a:rPr>
                <a:t>Inline JWT validation</a:t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2">
                  <a:solidFill>
                    <a:srgbClr val="364735"/>
                  </a:solidFill>
                </a:rPr>
                <a:t>API validates token via JsonWebTokenHandler. Extracts tenant_id and member_id. Returns 401 immediately if invalid.</a:t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2">
                <a:solidFill>
                  <a:srgbClr val="364735"/>
                </a:solidFill>
              </a:endParaRPr>
            </a:p>
            <a:p>
              <a:pPr indent="-35699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2022"/>
                <a:buAutoNum type="arabicPeriod"/>
              </a:pPr>
              <a:r>
                <a:rPr b="1" lang="en-US" sz="2022">
                  <a:solidFill>
                    <a:srgbClr val="364735"/>
                  </a:solidFill>
                </a:rPr>
                <a:t>SESSION_CONTEXT set</a:t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2">
                  <a:solidFill>
                    <a:srgbClr val="364735"/>
                  </a:solidFill>
                </a:rPr>
                <a:t>TenantID and MemberID written to SQL Server SESSION_CONTEXT before any DB call. Database enforces isolation independently.</a:t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22">
                <a:solidFill>
                  <a:srgbClr val="364735"/>
                </a:solidFill>
              </a:endParaRPr>
            </a:p>
            <a:p>
              <a:pPr indent="-35699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2022"/>
                <a:buAutoNum type="arabicPeriod"/>
              </a:pPr>
              <a:r>
                <a:rPr b="1" lang="en-US" sz="2022">
                  <a:solidFill>
                    <a:srgbClr val="364735"/>
                  </a:solidFill>
                </a:rPr>
                <a:t>Stored procedure executes</a:t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2">
                  <a:solidFill>
                    <a:srgbClr val="364735"/>
                  </a:solidFill>
                </a:rPr>
                <a:t>ral_SearchBooks_JSON or ral_ScanBook_JSON runs. Results returned as JSON. Lookup auto-logged to ral_BookLookupLog.</a:t>
              </a:r>
              <a:endParaRPr b="1" sz="17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2">
                <a:solidFill>
                  <a:srgbClr val="364735"/>
                </a:solidFill>
              </a:endParaRPr>
            </a:p>
            <a:p>
              <a:pPr indent="-356997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64735"/>
                </a:buClr>
                <a:buSzPts val="2022"/>
                <a:buAutoNum type="arabicPeriod"/>
              </a:pPr>
              <a:r>
                <a:rPr b="1" lang="en-US" sz="2022">
                  <a:solidFill>
                    <a:srgbClr val="364735"/>
                  </a:solidFill>
                </a:rPr>
                <a:t>Response returned to widget</a:t>
              </a:r>
              <a:endParaRPr b="1" sz="2022">
                <a:solidFill>
                  <a:srgbClr val="364735"/>
                </a:solidFill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2">
                  <a:solidFill>
                    <a:srgbClr val="364735"/>
                  </a:solidFill>
                </a:rPr>
                <a:t>JSON payload: BookLookupLogID · SearchType · MatchCount · Books[ ]. Frontend renders results in Search Results table.</a:t>
              </a:r>
              <a:endParaRPr b="1" sz="1422">
                <a:solidFill>
                  <a:srgbClr val="364735"/>
                </a:solidFill>
              </a:endParaRPr>
            </a:p>
            <a:p>
              <a:pPr indent="0" lvl="0" marL="0" marR="0" rtl="0" algn="l">
                <a:lnSpc>
                  <a:spcPct val="114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2">
                <a:solidFill>
                  <a:srgbClr val="364735"/>
                </a:solidFill>
              </a:endParaRPr>
            </a:p>
          </p:txBody>
        </p:sp>
      </p:grpSp>
      <p:grpSp>
        <p:nvGrpSpPr>
          <p:cNvPr id="410" name="Google Shape;410;h2ff35f18ac13cdd5_0_95"/>
          <p:cNvGrpSpPr/>
          <p:nvPr/>
        </p:nvGrpSpPr>
        <p:grpSpPr>
          <a:xfrm>
            <a:off x="9271925" y="1970504"/>
            <a:ext cx="8915245" cy="7788867"/>
            <a:chOff x="0" y="-123086"/>
            <a:chExt cx="11886993" cy="3573367"/>
          </a:xfrm>
        </p:grpSpPr>
        <p:grpSp>
          <p:nvGrpSpPr>
            <p:cNvPr id="411" name="Google Shape;411;h2ff35f18ac13cdd5_0_95"/>
            <p:cNvGrpSpPr/>
            <p:nvPr/>
          </p:nvGrpSpPr>
          <p:grpSpPr>
            <a:xfrm>
              <a:off x="0" y="-123086"/>
              <a:ext cx="11886993" cy="3573367"/>
              <a:chOff x="0" y="-38100"/>
              <a:chExt cx="3679500" cy="1106100"/>
            </a:xfrm>
          </p:grpSpPr>
          <p:sp>
            <p:nvSpPr>
              <p:cNvPr id="412" name="Google Shape;412;h2ff35f18ac13cdd5_0_95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h2ff35f18ac13cdd5_0_95"/>
              <p:cNvSpPr txBox="1"/>
              <p:nvPr/>
            </p:nvSpPr>
            <p:spPr>
              <a:xfrm>
                <a:off x="0" y="-38100"/>
                <a:ext cx="3679500" cy="110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4" name="Google Shape;414;h2ff35f18ac13cdd5_0_95"/>
            <p:cNvGrpSpPr/>
            <p:nvPr/>
          </p:nvGrpSpPr>
          <p:grpSpPr>
            <a:xfrm>
              <a:off x="69178" y="140708"/>
              <a:ext cx="11595571" cy="163796"/>
              <a:chOff x="-47251" y="-370802"/>
              <a:chExt cx="3589293" cy="50700"/>
            </a:xfrm>
          </p:grpSpPr>
          <p:sp>
            <p:nvSpPr>
              <p:cNvPr id="415" name="Google Shape;415;h2ff35f18ac13cdd5_0_95"/>
              <p:cNvSpPr/>
              <p:nvPr/>
            </p:nvSpPr>
            <p:spPr>
              <a:xfrm>
                <a:off x="0" y="-341518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416" name="Google Shape;416;h2ff35f18ac13cdd5_0_95"/>
              <p:cNvSpPr txBox="1"/>
              <p:nvPr/>
            </p:nvSpPr>
            <p:spPr>
              <a:xfrm>
                <a:off x="-47251" y="-370802"/>
                <a:ext cx="3542100" cy="5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" name="Google Shape;417;h2ff35f18ac13cdd5_0_95"/>
            <p:cNvSpPr txBox="1"/>
            <p:nvPr/>
          </p:nvSpPr>
          <p:spPr>
            <a:xfrm>
              <a:off x="221825" y="-6"/>
              <a:ext cx="107163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Architecture Layers</a:t>
              </a:r>
              <a:endParaRPr/>
            </a:p>
          </p:txBody>
        </p:sp>
      </p:grpSp>
      <p:sp>
        <p:nvSpPr>
          <p:cNvPr id="418" name="Google Shape;418;h2ff35f18ac13cdd5_0_95"/>
          <p:cNvSpPr txBox="1"/>
          <p:nvPr/>
        </p:nvSpPr>
        <p:spPr>
          <a:xfrm>
            <a:off x="9538613" y="3072136"/>
            <a:ext cx="7904400" cy="5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99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022"/>
              <a:buAutoNum type="arabicPeriod"/>
            </a:pPr>
            <a:r>
              <a:rPr b="1" lang="en-US" sz="2022">
                <a:solidFill>
                  <a:srgbClr val="364735"/>
                </a:solidFill>
              </a:rPr>
              <a:t>Frontend</a:t>
            </a:r>
            <a:endParaRPr b="1" sz="20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Standalone widget — index.html + app.js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Token via Get Token button → POST /standalone/context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All calls attach Authorization: Bearer &lt;token&gt;</a:t>
            </a:r>
            <a:endParaRPr sz="650">
              <a:solidFill>
                <a:srgbClr val="00C4B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-35699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022"/>
              <a:buAutoNum type="arabicPeriod"/>
            </a:pPr>
            <a:r>
              <a:rPr b="1" lang="en-US" sz="2022">
                <a:solidFill>
                  <a:srgbClr val="364735"/>
                </a:solidFill>
              </a:rPr>
              <a:t>Backend — ASP.NET Core Minimal API</a:t>
            </a:r>
            <a:endParaRPr b="1" sz="20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Single Program.cs — no middleware classes, no controllers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Direct SQL via SqlConnection + SqlCommand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SP pattern: @Payload in → @Result OUTPUT</a:t>
            </a:r>
            <a:endParaRPr sz="800">
              <a:solidFill>
                <a:srgbClr val="94A3B8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-35699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022"/>
              <a:buAutoNum type="arabicPeriod"/>
            </a:pPr>
            <a:r>
              <a:rPr b="1" lang="en-US" sz="2022">
                <a:solidFill>
                  <a:srgbClr val="364735"/>
                </a:solidFill>
              </a:rPr>
              <a:t>Database — SQL Server (Cobbled_NoRLS)</a:t>
            </a:r>
            <a:endParaRPr b="1" sz="20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Schema: ral · Tables: ral_Books · ral_Authors · ral_BookAuthors · ral_UserBooks · ral_BookLookupLog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2">
                <a:solidFill>
                  <a:srgbClr val="364735"/>
                </a:solidFill>
              </a:rPr>
              <a:t>All logic in stored procedures — no direct table access from API</a:t>
            </a:r>
            <a:endParaRPr b="1" sz="1722">
              <a:solidFill>
                <a:srgbClr val="364735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rtl="0" algn="l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22">
              <a:solidFill>
                <a:srgbClr val="36473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h2ff35f18ac13cdd5_0_132"/>
          <p:cNvGrpSpPr/>
          <p:nvPr/>
        </p:nvGrpSpPr>
        <p:grpSpPr>
          <a:xfrm>
            <a:off x="-58636" y="370323"/>
            <a:ext cx="6168064" cy="849169"/>
            <a:chOff x="0" y="-38100"/>
            <a:chExt cx="1624500" cy="223648"/>
          </a:xfrm>
        </p:grpSpPr>
        <p:sp>
          <p:nvSpPr>
            <p:cNvPr id="424" name="Google Shape;424;h2ff35f18ac13cdd5_0_132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425" name="Google Shape;425;h2ff35f18ac13cdd5_0_132"/>
            <p:cNvSpPr txBox="1"/>
            <p:nvPr/>
          </p:nvSpPr>
          <p:spPr>
            <a:xfrm>
              <a:off x="0" y="-38100"/>
              <a:ext cx="1624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h2ff35f18ac13cdd5_0_132"/>
          <p:cNvSpPr txBox="1"/>
          <p:nvPr/>
        </p:nvSpPr>
        <p:spPr>
          <a:xfrm>
            <a:off x="228958" y="551959"/>
            <a:ext cx="669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Validation</a:t>
            </a:r>
            <a:endParaRPr/>
          </a:p>
        </p:txBody>
      </p:sp>
      <p:sp>
        <p:nvSpPr>
          <p:cNvPr id="427" name="Google Shape;427;h2ff35f18ac13cdd5_0_132"/>
          <p:cNvSpPr txBox="1"/>
          <p:nvPr/>
        </p:nvSpPr>
        <p:spPr>
          <a:xfrm>
            <a:off x="16632167" y="372110"/>
            <a:ext cx="125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428" name="Google Shape;428;h2ff35f18ac13cdd5_0_132"/>
          <p:cNvSpPr txBox="1"/>
          <p:nvPr/>
        </p:nvSpPr>
        <p:spPr>
          <a:xfrm>
            <a:off x="228958" y="1484931"/>
            <a:ext cx="609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B4529"/>
                </a:solidFill>
                <a:latin typeface="Open Sans"/>
                <a:ea typeface="Open Sans"/>
                <a:cs typeface="Open Sans"/>
                <a:sym typeface="Open Sans"/>
              </a:rPr>
              <a:t>Book Lookup / Scan</a:t>
            </a:r>
            <a:endParaRPr/>
          </a:p>
        </p:txBody>
      </p:sp>
      <p:grpSp>
        <p:nvGrpSpPr>
          <p:cNvPr id="429" name="Google Shape;429;h2ff35f18ac13cdd5_0_132"/>
          <p:cNvGrpSpPr/>
          <p:nvPr/>
        </p:nvGrpSpPr>
        <p:grpSpPr>
          <a:xfrm>
            <a:off x="228950" y="1830848"/>
            <a:ext cx="8915245" cy="8334163"/>
            <a:chOff x="0" y="-123086"/>
            <a:chExt cx="11886993" cy="3573367"/>
          </a:xfrm>
        </p:grpSpPr>
        <p:grpSp>
          <p:nvGrpSpPr>
            <p:cNvPr id="430" name="Google Shape;430;h2ff35f18ac13cdd5_0_132"/>
            <p:cNvGrpSpPr/>
            <p:nvPr/>
          </p:nvGrpSpPr>
          <p:grpSpPr>
            <a:xfrm>
              <a:off x="0" y="-123086"/>
              <a:ext cx="11886993" cy="3573367"/>
              <a:chOff x="0" y="-38100"/>
              <a:chExt cx="3679500" cy="1106100"/>
            </a:xfrm>
          </p:grpSpPr>
          <p:sp>
            <p:nvSpPr>
              <p:cNvPr id="431" name="Google Shape;431;h2ff35f18ac13cdd5_0_132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h2ff35f18ac13cdd5_0_132"/>
              <p:cNvSpPr txBox="1"/>
              <p:nvPr/>
            </p:nvSpPr>
            <p:spPr>
              <a:xfrm>
                <a:off x="0" y="-38100"/>
                <a:ext cx="3679500" cy="110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3" name="Google Shape;433;h2ff35f18ac13cdd5_0_132"/>
            <p:cNvGrpSpPr/>
            <p:nvPr/>
          </p:nvGrpSpPr>
          <p:grpSpPr>
            <a:xfrm>
              <a:off x="69178" y="140708"/>
              <a:ext cx="11595571" cy="163796"/>
              <a:chOff x="-47251" y="-370802"/>
              <a:chExt cx="3589293" cy="50700"/>
            </a:xfrm>
          </p:grpSpPr>
          <p:sp>
            <p:nvSpPr>
              <p:cNvPr id="434" name="Google Shape;434;h2ff35f18ac13cdd5_0_132"/>
              <p:cNvSpPr/>
              <p:nvPr/>
            </p:nvSpPr>
            <p:spPr>
              <a:xfrm>
                <a:off x="0" y="-341518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435" name="Google Shape;435;h2ff35f18ac13cdd5_0_132"/>
              <p:cNvSpPr txBox="1"/>
              <p:nvPr/>
            </p:nvSpPr>
            <p:spPr>
              <a:xfrm>
                <a:off x="-47251" y="-370802"/>
                <a:ext cx="3542100" cy="5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6" name="Google Shape;436;h2ff35f18ac13cdd5_0_132"/>
            <p:cNvSpPr txBox="1"/>
            <p:nvPr/>
          </p:nvSpPr>
          <p:spPr>
            <a:xfrm>
              <a:off x="221825" y="-6"/>
              <a:ext cx="107163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Functional Test</a:t>
              </a:r>
              <a:endParaRPr/>
            </a:p>
          </p:txBody>
        </p:sp>
      </p:grpSp>
      <p:grpSp>
        <p:nvGrpSpPr>
          <p:cNvPr id="437" name="Google Shape;437;h2ff35f18ac13cdd5_0_132"/>
          <p:cNvGrpSpPr/>
          <p:nvPr/>
        </p:nvGrpSpPr>
        <p:grpSpPr>
          <a:xfrm>
            <a:off x="9271925" y="1830850"/>
            <a:ext cx="8915245" cy="8334163"/>
            <a:chOff x="0" y="-123086"/>
            <a:chExt cx="11886993" cy="3573367"/>
          </a:xfrm>
        </p:grpSpPr>
        <p:grpSp>
          <p:nvGrpSpPr>
            <p:cNvPr id="438" name="Google Shape;438;h2ff35f18ac13cdd5_0_132"/>
            <p:cNvGrpSpPr/>
            <p:nvPr/>
          </p:nvGrpSpPr>
          <p:grpSpPr>
            <a:xfrm>
              <a:off x="0" y="-123086"/>
              <a:ext cx="11886993" cy="3573367"/>
              <a:chOff x="0" y="-38100"/>
              <a:chExt cx="3679500" cy="1106100"/>
            </a:xfrm>
          </p:grpSpPr>
          <p:sp>
            <p:nvSpPr>
              <p:cNvPr id="439" name="Google Shape;439;h2ff35f18ac13cdd5_0_132"/>
              <p:cNvSpPr/>
              <p:nvPr/>
            </p:nvSpPr>
            <p:spPr>
              <a:xfrm>
                <a:off x="0" y="0"/>
                <a:ext cx="3679369" cy="1067916"/>
              </a:xfrm>
              <a:custGeom>
                <a:rect b="b" l="l" r="r" t="t"/>
                <a:pathLst>
                  <a:path extrusionOk="0" h="1067916" w="3679369">
                    <a:moveTo>
                      <a:pt x="22167" y="0"/>
                    </a:moveTo>
                    <a:lnTo>
                      <a:pt x="3657202" y="0"/>
                    </a:lnTo>
                    <a:cubicBezTo>
                      <a:pt x="3663081" y="0"/>
                      <a:pt x="3668719" y="2335"/>
                      <a:pt x="3672877" y="6493"/>
                    </a:cubicBezTo>
                    <a:cubicBezTo>
                      <a:pt x="3677034" y="10650"/>
                      <a:pt x="3679369" y="16288"/>
                      <a:pt x="3679369" y="22167"/>
                    </a:cubicBezTo>
                    <a:lnTo>
                      <a:pt x="3679369" y="1045749"/>
                    </a:lnTo>
                    <a:cubicBezTo>
                      <a:pt x="3679369" y="1051628"/>
                      <a:pt x="3677034" y="1057266"/>
                      <a:pt x="3672877" y="1061424"/>
                    </a:cubicBezTo>
                    <a:cubicBezTo>
                      <a:pt x="3668719" y="1065581"/>
                      <a:pt x="3663081" y="1067916"/>
                      <a:pt x="3657202" y="1067916"/>
                    </a:cubicBezTo>
                    <a:lnTo>
                      <a:pt x="22167" y="1067916"/>
                    </a:lnTo>
                    <a:cubicBezTo>
                      <a:pt x="16288" y="1067916"/>
                      <a:pt x="10650" y="1065581"/>
                      <a:pt x="6493" y="1061424"/>
                    </a:cubicBezTo>
                    <a:cubicBezTo>
                      <a:pt x="2335" y="1057266"/>
                      <a:pt x="0" y="1051628"/>
                      <a:pt x="0" y="1045749"/>
                    </a:cubicBezTo>
                    <a:lnTo>
                      <a:pt x="0" y="22167"/>
                    </a:lnTo>
                    <a:cubicBezTo>
                      <a:pt x="0" y="16288"/>
                      <a:pt x="2335" y="10650"/>
                      <a:pt x="6493" y="6493"/>
                    </a:cubicBezTo>
                    <a:cubicBezTo>
                      <a:pt x="10650" y="2335"/>
                      <a:pt x="16288" y="0"/>
                      <a:pt x="22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h2ff35f18ac13cdd5_0_132"/>
              <p:cNvSpPr txBox="1"/>
              <p:nvPr/>
            </p:nvSpPr>
            <p:spPr>
              <a:xfrm>
                <a:off x="0" y="-38100"/>
                <a:ext cx="3679500" cy="110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h2ff35f18ac13cdd5_0_132"/>
            <p:cNvGrpSpPr/>
            <p:nvPr/>
          </p:nvGrpSpPr>
          <p:grpSpPr>
            <a:xfrm>
              <a:off x="69178" y="140708"/>
              <a:ext cx="11595571" cy="163796"/>
              <a:chOff x="-47251" y="-370802"/>
              <a:chExt cx="3589293" cy="50700"/>
            </a:xfrm>
          </p:grpSpPr>
          <p:sp>
            <p:nvSpPr>
              <p:cNvPr id="442" name="Google Shape;442;h2ff35f18ac13cdd5_0_132"/>
              <p:cNvSpPr/>
              <p:nvPr/>
            </p:nvSpPr>
            <p:spPr>
              <a:xfrm>
                <a:off x="0" y="-341518"/>
                <a:ext cx="3542042" cy="12543"/>
              </a:xfrm>
              <a:custGeom>
                <a:rect b="b" l="l" r="r" t="t"/>
                <a:pathLst>
                  <a:path extrusionOk="0" h="12543" w="3542042">
                    <a:moveTo>
                      <a:pt x="0" y="0"/>
                    </a:moveTo>
                    <a:lnTo>
                      <a:pt x="3542042" y="0"/>
                    </a:lnTo>
                    <a:lnTo>
                      <a:pt x="3542042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64735"/>
              </a:solidFill>
              <a:ln>
                <a:noFill/>
              </a:ln>
            </p:spPr>
          </p:sp>
          <p:sp>
            <p:nvSpPr>
              <p:cNvPr id="443" name="Google Shape;443;h2ff35f18ac13cdd5_0_132"/>
              <p:cNvSpPr txBox="1"/>
              <p:nvPr/>
            </p:nvSpPr>
            <p:spPr>
              <a:xfrm>
                <a:off x="-47251" y="-370802"/>
                <a:ext cx="3542100" cy="5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4" name="Google Shape;444;h2ff35f18ac13cdd5_0_132"/>
            <p:cNvSpPr txBox="1"/>
            <p:nvPr/>
          </p:nvSpPr>
          <p:spPr>
            <a:xfrm>
              <a:off x="221825" y="-6"/>
              <a:ext cx="107163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364735"/>
                  </a:solidFill>
                  <a:latin typeface="Lora"/>
                  <a:ea typeface="Lora"/>
                  <a:cs typeface="Lora"/>
                  <a:sym typeface="Lora"/>
                </a:rPr>
                <a:t>Security Test</a:t>
              </a:r>
              <a:endParaRPr/>
            </a:p>
          </p:txBody>
        </p:sp>
      </p:grpSp>
      <p:sp>
        <p:nvSpPr>
          <p:cNvPr id="445" name="Google Shape;445;h2ff35f18ac13cdd5_0_132"/>
          <p:cNvSpPr txBox="1"/>
          <p:nvPr/>
        </p:nvSpPr>
        <p:spPr>
          <a:xfrm>
            <a:off x="619775" y="2920984"/>
            <a:ext cx="7904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Title Search </a:t>
            </a:r>
            <a:r>
              <a:rPr b="1" lang="en-US" sz="2022">
                <a:solidFill>
                  <a:srgbClr val="364735"/>
                </a:solidFill>
              </a:rPr>
              <a:t>—</a:t>
            </a:r>
            <a:r>
              <a:rPr b="1" lang="en-US" sz="2022">
                <a:solidFill>
                  <a:srgbClr val="364735"/>
                </a:solidFill>
              </a:rPr>
              <a:t> matched result</a:t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</p:txBody>
      </p:sp>
      <p:pic>
        <p:nvPicPr>
          <p:cNvPr id="446" name="Google Shape;446;h2ff35f18ac13cdd5_0_132" title="Screenshot 2026-10-22 at 20.29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95" y="3265308"/>
            <a:ext cx="7684424" cy="16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h2ff35f18ac13cdd5_0_132"/>
          <p:cNvSpPr txBox="1"/>
          <p:nvPr/>
        </p:nvSpPr>
        <p:spPr>
          <a:xfrm>
            <a:off x="659961" y="5037912"/>
            <a:ext cx="7904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ISBN-13 Scan — exact match</a:t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</p:txBody>
      </p:sp>
      <p:pic>
        <p:nvPicPr>
          <p:cNvPr id="448" name="Google Shape;448;h2ff35f18ac13cdd5_0_132" title="Screenshot 2026-10-22 at 20.30.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2572" y="5424856"/>
            <a:ext cx="7604577" cy="2280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h2ff35f18ac13cdd5_0_132"/>
          <p:cNvSpPr txBox="1"/>
          <p:nvPr/>
        </p:nvSpPr>
        <p:spPr>
          <a:xfrm>
            <a:off x="560280" y="7750141"/>
            <a:ext cx="7904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Search — no match</a:t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</p:txBody>
      </p:sp>
      <p:pic>
        <p:nvPicPr>
          <p:cNvPr id="450" name="Google Shape;450;h2ff35f18ac13cdd5_0_132" title="Screenshot 2026-10-22 at 20.30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7148" y="8044370"/>
            <a:ext cx="7555348" cy="20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h2ff35f18ac13cdd5_0_132"/>
          <p:cNvSpPr txBox="1"/>
          <p:nvPr/>
        </p:nvSpPr>
        <p:spPr>
          <a:xfrm>
            <a:off x="9597675" y="2920984"/>
            <a:ext cx="7904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No Authorization header</a:t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</p:txBody>
      </p:sp>
      <p:sp>
        <p:nvSpPr>
          <p:cNvPr id="452" name="Google Shape;452;h2ff35f18ac13cdd5_0_132"/>
          <p:cNvSpPr txBox="1"/>
          <p:nvPr/>
        </p:nvSpPr>
        <p:spPr>
          <a:xfrm>
            <a:off x="9637861" y="5112327"/>
            <a:ext cx="7904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Health check — unauthenticated</a:t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</p:txBody>
      </p:sp>
      <p:sp>
        <p:nvSpPr>
          <p:cNvPr id="453" name="Google Shape;453;h2ff35f18ac13cdd5_0_132"/>
          <p:cNvSpPr txBox="1"/>
          <p:nvPr/>
        </p:nvSpPr>
        <p:spPr>
          <a:xfrm>
            <a:off x="9478648" y="7422719"/>
            <a:ext cx="7904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2">
                <a:solidFill>
                  <a:srgbClr val="364735"/>
                </a:solidFill>
              </a:rPr>
              <a:t>Readiness check — DB + SP verified</a:t>
            </a:r>
            <a:endParaRPr b="1" sz="2022">
              <a:solidFill>
                <a:srgbClr val="364735"/>
              </a:solidFill>
            </a:endParaRPr>
          </a:p>
          <a:p>
            <a:pPr indent="0" lvl="0" marL="0" marR="0" rtl="0" algn="l">
              <a:lnSpc>
                <a:spcPct val="114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2">
              <a:solidFill>
                <a:srgbClr val="364735"/>
              </a:solidFill>
            </a:endParaRPr>
          </a:p>
        </p:txBody>
      </p:sp>
      <p:pic>
        <p:nvPicPr>
          <p:cNvPr id="454" name="Google Shape;454;h2ff35f18ac13cdd5_0_132" title="Screenshot 2026-10-22 at 20.31.52.png"/>
          <p:cNvPicPr preferRelativeResize="0"/>
          <p:nvPr/>
        </p:nvPicPr>
        <p:blipFill rotWithShape="1">
          <a:blip r:embed="rId6">
            <a:alphaModFix/>
          </a:blip>
          <a:srcRect b="0" l="0" r="25462" t="0"/>
          <a:stretch/>
        </p:blipFill>
        <p:spPr>
          <a:xfrm>
            <a:off x="10094350" y="3309948"/>
            <a:ext cx="7080428" cy="16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h2ff35f18ac13cdd5_0_132" title="Screenshot 2026-10-22 at 20.32.37.png"/>
          <p:cNvPicPr preferRelativeResize="0"/>
          <p:nvPr/>
        </p:nvPicPr>
        <p:blipFill rotWithShape="1">
          <a:blip r:embed="rId7">
            <a:alphaModFix/>
          </a:blip>
          <a:srcRect b="0" l="0" r="17918" t="0"/>
          <a:stretch/>
        </p:blipFill>
        <p:spPr>
          <a:xfrm>
            <a:off x="10094351" y="5529030"/>
            <a:ext cx="7154826" cy="16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h2ff35f18ac13cdd5_0_132" title="Screenshot 2026-10-22 at 20.32.54.png"/>
          <p:cNvPicPr preferRelativeResize="0"/>
          <p:nvPr/>
        </p:nvPicPr>
        <p:blipFill rotWithShape="1">
          <a:blip r:embed="rId8">
            <a:alphaModFix/>
          </a:blip>
          <a:srcRect b="0" l="0" r="32327" t="0"/>
          <a:stretch/>
        </p:blipFill>
        <p:spPr>
          <a:xfrm>
            <a:off x="10094350" y="7896950"/>
            <a:ext cx="7154826" cy="18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13"/>
          <p:cNvGrpSpPr/>
          <p:nvPr/>
        </p:nvGrpSpPr>
        <p:grpSpPr>
          <a:xfrm>
            <a:off x="-58636" y="370324"/>
            <a:ext cx="6167530" cy="849164"/>
            <a:chOff x="0" y="-38100"/>
            <a:chExt cx="1624370" cy="223648"/>
          </a:xfrm>
        </p:grpSpPr>
        <p:sp>
          <p:nvSpPr>
            <p:cNvPr id="462" name="Google Shape;462;p13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463" name="Google Shape;463;p13"/>
            <p:cNvSpPr txBox="1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4" name="Google Shape;464;p13"/>
          <p:cNvSpPr/>
          <p:nvPr/>
        </p:nvSpPr>
        <p:spPr>
          <a:xfrm>
            <a:off x="228958" y="2331528"/>
            <a:ext cx="10090943" cy="3284924"/>
          </a:xfrm>
          <a:custGeom>
            <a:rect b="b" l="l" r="r" t="t"/>
            <a:pathLst>
              <a:path extrusionOk="0" h="3284924" w="10090943">
                <a:moveTo>
                  <a:pt x="0" y="0"/>
                </a:moveTo>
                <a:lnTo>
                  <a:pt x="10090943" y="0"/>
                </a:lnTo>
                <a:lnTo>
                  <a:pt x="10090943" y="3284925"/>
                </a:lnTo>
                <a:lnTo>
                  <a:pt x="0" y="328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13"/>
          <p:cNvSpPr/>
          <p:nvPr/>
        </p:nvSpPr>
        <p:spPr>
          <a:xfrm>
            <a:off x="228958" y="6994547"/>
            <a:ext cx="10090943" cy="1535112"/>
          </a:xfrm>
          <a:custGeom>
            <a:rect b="b" l="l" r="r" t="t"/>
            <a:pathLst>
              <a:path extrusionOk="0" h="1535112" w="10090943">
                <a:moveTo>
                  <a:pt x="0" y="0"/>
                </a:moveTo>
                <a:lnTo>
                  <a:pt x="10090943" y="0"/>
                </a:lnTo>
                <a:lnTo>
                  <a:pt x="10090943" y="1535112"/>
                </a:lnTo>
                <a:lnTo>
                  <a:pt x="0" y="1535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13"/>
          <p:cNvSpPr/>
          <p:nvPr/>
        </p:nvSpPr>
        <p:spPr>
          <a:xfrm>
            <a:off x="11833213" y="2331528"/>
            <a:ext cx="5194422" cy="1793312"/>
          </a:xfrm>
          <a:custGeom>
            <a:rect b="b" l="l" r="r" t="t"/>
            <a:pathLst>
              <a:path extrusionOk="0" h="1793312" w="5194422">
                <a:moveTo>
                  <a:pt x="0" y="0"/>
                </a:moveTo>
                <a:lnTo>
                  <a:pt x="5194422" y="0"/>
                </a:lnTo>
                <a:lnTo>
                  <a:pt x="5194422" y="1793313"/>
                </a:lnTo>
                <a:lnTo>
                  <a:pt x="0" y="17933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13"/>
          <p:cNvSpPr/>
          <p:nvPr/>
        </p:nvSpPr>
        <p:spPr>
          <a:xfrm>
            <a:off x="11833213" y="6675650"/>
            <a:ext cx="5194422" cy="1854009"/>
          </a:xfrm>
          <a:custGeom>
            <a:rect b="b" l="l" r="r" t="t"/>
            <a:pathLst>
              <a:path extrusionOk="0" h="1854009" w="5194422">
                <a:moveTo>
                  <a:pt x="0" y="0"/>
                </a:moveTo>
                <a:lnTo>
                  <a:pt x="5194422" y="0"/>
                </a:lnTo>
                <a:lnTo>
                  <a:pt x="5194422" y="1854009"/>
                </a:lnTo>
                <a:lnTo>
                  <a:pt x="0" y="1854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13"/>
          <p:cNvSpPr txBox="1"/>
          <p:nvPr/>
        </p:nvSpPr>
        <p:spPr>
          <a:xfrm>
            <a:off x="228958" y="551959"/>
            <a:ext cx="669746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Validation</a:t>
            </a:r>
            <a:endParaRPr/>
          </a:p>
        </p:txBody>
      </p:sp>
      <p:sp>
        <p:nvSpPr>
          <p:cNvPr id="469" name="Google Shape;469;p13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470" name="Google Shape;470;p13"/>
          <p:cNvSpPr txBox="1"/>
          <p:nvPr/>
        </p:nvSpPr>
        <p:spPr>
          <a:xfrm>
            <a:off x="228958" y="1541588"/>
            <a:ext cx="3677603" cy="323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Testing &amp; Implementation Status</a:t>
            </a:r>
            <a:endParaRPr/>
          </a:p>
        </p:txBody>
      </p:sp>
      <p:sp>
        <p:nvSpPr>
          <p:cNvPr id="471" name="Google Shape;471;p13"/>
          <p:cNvSpPr txBox="1"/>
          <p:nvPr/>
        </p:nvSpPr>
        <p:spPr>
          <a:xfrm>
            <a:off x="200130" y="5763184"/>
            <a:ext cx="10119771" cy="69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The API accepts a valid UserBookID and a JSON response containing the updated reading details. It updates the existing user book record in the database.</a:t>
            </a:r>
            <a:endParaRPr/>
          </a:p>
        </p:txBody>
      </p:sp>
      <p:sp>
        <p:nvSpPr>
          <p:cNvPr id="472" name="Google Shape;472;p13"/>
          <p:cNvSpPr txBox="1"/>
          <p:nvPr/>
        </p:nvSpPr>
        <p:spPr>
          <a:xfrm>
            <a:off x="-701911" y="8710554"/>
            <a:ext cx="10136243" cy="41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The API returns error 401 when no valid JWT is provided.</a:t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9045773" y="4862225"/>
            <a:ext cx="196453" cy="505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/>
          </a:p>
        </p:txBody>
      </p:sp>
      <p:sp>
        <p:nvSpPr>
          <p:cNvPr id="474" name="Google Shape;474;p13"/>
          <p:cNvSpPr txBox="1"/>
          <p:nvPr/>
        </p:nvSpPr>
        <p:spPr>
          <a:xfrm>
            <a:off x="11647333" y="5020280"/>
            <a:ext cx="5566182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The endpoint successfully responds and returns the health status and readiness status.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14"/>
          <p:cNvGrpSpPr/>
          <p:nvPr/>
        </p:nvGrpSpPr>
        <p:grpSpPr>
          <a:xfrm>
            <a:off x="-58636" y="370324"/>
            <a:ext cx="6167530" cy="849164"/>
            <a:chOff x="0" y="-38100"/>
            <a:chExt cx="1624370" cy="223648"/>
          </a:xfrm>
        </p:grpSpPr>
        <p:sp>
          <p:nvSpPr>
            <p:cNvPr id="480" name="Google Shape;480;p14"/>
            <p:cNvSpPr/>
            <p:nvPr/>
          </p:nvSpPr>
          <p:spPr>
            <a:xfrm>
              <a:off x="0" y="0"/>
              <a:ext cx="1624370" cy="185548"/>
            </a:xfrm>
            <a:custGeom>
              <a:rect b="b" l="l" r="r" t="t"/>
              <a:pathLst>
                <a:path extrusionOk="0" h="185548" w="1624370">
                  <a:moveTo>
                    <a:pt x="0" y="0"/>
                  </a:moveTo>
                  <a:lnTo>
                    <a:pt x="1624370" y="0"/>
                  </a:lnTo>
                  <a:lnTo>
                    <a:pt x="1624370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481" name="Google Shape;481;p14"/>
            <p:cNvSpPr txBox="1"/>
            <p:nvPr/>
          </p:nvSpPr>
          <p:spPr>
            <a:xfrm>
              <a:off x="0" y="-38100"/>
              <a:ext cx="1624370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2" name="Google Shape;4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8667" y="2226753"/>
            <a:ext cx="12830666" cy="721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4"/>
          <p:cNvSpPr txBox="1"/>
          <p:nvPr/>
        </p:nvSpPr>
        <p:spPr>
          <a:xfrm>
            <a:off x="228958" y="551959"/>
            <a:ext cx="669746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System Walkthrough</a:t>
            </a:r>
            <a:endParaRPr/>
          </a:p>
        </p:txBody>
      </p:sp>
      <p:sp>
        <p:nvSpPr>
          <p:cNvPr id="484" name="Google Shape;484;p14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/>
          </a:p>
        </p:txBody>
      </p:sp>
      <p:sp>
        <p:nvSpPr>
          <p:cNvPr id="485" name="Google Shape;485;p14"/>
          <p:cNvSpPr txBox="1"/>
          <p:nvPr/>
        </p:nvSpPr>
        <p:spPr>
          <a:xfrm>
            <a:off x="196915" y="1541588"/>
            <a:ext cx="3741688" cy="323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ReadAlert System Demonstration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15"/>
          <p:cNvGrpSpPr/>
          <p:nvPr/>
        </p:nvGrpSpPr>
        <p:grpSpPr>
          <a:xfrm>
            <a:off x="-58636" y="370324"/>
            <a:ext cx="4599961" cy="849164"/>
            <a:chOff x="0" y="-38100"/>
            <a:chExt cx="1211512" cy="223648"/>
          </a:xfrm>
        </p:grpSpPr>
        <p:sp>
          <p:nvSpPr>
            <p:cNvPr id="491" name="Google Shape;491;p15"/>
            <p:cNvSpPr/>
            <p:nvPr/>
          </p:nvSpPr>
          <p:spPr>
            <a:xfrm>
              <a:off x="0" y="0"/>
              <a:ext cx="1211512" cy="185548"/>
            </a:xfrm>
            <a:custGeom>
              <a:rect b="b" l="l" r="r" t="t"/>
              <a:pathLst>
                <a:path extrusionOk="0" h="185548" w="1211512">
                  <a:moveTo>
                    <a:pt x="0" y="0"/>
                  </a:moveTo>
                  <a:lnTo>
                    <a:pt x="1211512" y="0"/>
                  </a:lnTo>
                  <a:lnTo>
                    <a:pt x="1211512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492" name="Google Shape;492;p15"/>
            <p:cNvSpPr txBox="1"/>
            <p:nvPr/>
          </p:nvSpPr>
          <p:spPr>
            <a:xfrm>
              <a:off x="0" y="-38100"/>
              <a:ext cx="1211512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15"/>
          <p:cNvGrpSpPr/>
          <p:nvPr/>
        </p:nvGrpSpPr>
        <p:grpSpPr>
          <a:xfrm>
            <a:off x="279402" y="1566888"/>
            <a:ext cx="8523846" cy="7037184"/>
            <a:chOff x="0" y="-38100"/>
            <a:chExt cx="2244964" cy="1853415"/>
          </a:xfrm>
        </p:grpSpPr>
        <p:sp>
          <p:nvSpPr>
            <p:cNvPr id="494" name="Google Shape;494;p15"/>
            <p:cNvSpPr/>
            <p:nvPr/>
          </p:nvSpPr>
          <p:spPr>
            <a:xfrm>
              <a:off x="0" y="0"/>
              <a:ext cx="2244964" cy="1815315"/>
            </a:xfrm>
            <a:custGeom>
              <a:rect b="b" l="l" r="r" t="t"/>
              <a:pathLst>
                <a:path extrusionOk="0" h="1815315" w="2244964">
                  <a:moveTo>
                    <a:pt x="17257" y="0"/>
                  </a:moveTo>
                  <a:lnTo>
                    <a:pt x="2227707" y="0"/>
                  </a:lnTo>
                  <a:cubicBezTo>
                    <a:pt x="2232284" y="0"/>
                    <a:pt x="2236673" y="1818"/>
                    <a:pt x="2239909" y="5054"/>
                  </a:cubicBezTo>
                  <a:cubicBezTo>
                    <a:pt x="2243146" y="8291"/>
                    <a:pt x="2244964" y="12680"/>
                    <a:pt x="2244964" y="17257"/>
                  </a:cubicBezTo>
                  <a:lnTo>
                    <a:pt x="2244964" y="1798057"/>
                  </a:lnTo>
                  <a:cubicBezTo>
                    <a:pt x="2244964" y="1807588"/>
                    <a:pt x="2237237" y="1815315"/>
                    <a:pt x="2227707" y="1815315"/>
                  </a:cubicBezTo>
                  <a:lnTo>
                    <a:pt x="17257" y="1815315"/>
                  </a:lnTo>
                  <a:cubicBezTo>
                    <a:pt x="7726" y="1815315"/>
                    <a:pt x="0" y="1807588"/>
                    <a:pt x="0" y="1798057"/>
                  </a:cubicBezTo>
                  <a:lnTo>
                    <a:pt x="0" y="17257"/>
                  </a:lnTo>
                  <a:cubicBezTo>
                    <a:pt x="0" y="7726"/>
                    <a:pt x="7726" y="0"/>
                    <a:pt x="17257" y="0"/>
                  </a:cubicBezTo>
                  <a:close/>
                </a:path>
              </a:pathLst>
            </a:custGeom>
            <a:solidFill>
              <a:srgbClr val="819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5"/>
            <p:cNvSpPr txBox="1"/>
            <p:nvPr/>
          </p:nvSpPr>
          <p:spPr>
            <a:xfrm>
              <a:off x="0" y="-38100"/>
              <a:ext cx="2244964" cy="1853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6" name="Google Shape;496;p15"/>
          <p:cNvSpPr/>
          <p:nvPr/>
        </p:nvSpPr>
        <p:spPr>
          <a:xfrm>
            <a:off x="11605530" y="1273810"/>
            <a:ext cx="3954204" cy="7389824"/>
          </a:xfrm>
          <a:custGeom>
            <a:rect b="b" l="l" r="r" t="t"/>
            <a:pathLst>
              <a:path extrusionOk="0" h="7389824" w="3954204">
                <a:moveTo>
                  <a:pt x="0" y="0"/>
                </a:moveTo>
                <a:lnTo>
                  <a:pt x="3954204" y="0"/>
                </a:lnTo>
                <a:lnTo>
                  <a:pt x="3954204" y="7389824"/>
                </a:lnTo>
                <a:lnTo>
                  <a:pt x="0" y="7389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p15"/>
          <p:cNvSpPr txBox="1"/>
          <p:nvPr/>
        </p:nvSpPr>
        <p:spPr>
          <a:xfrm>
            <a:off x="228958" y="551959"/>
            <a:ext cx="730258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Challenges</a:t>
            </a:r>
            <a:endParaRPr/>
          </a:p>
        </p:txBody>
      </p:sp>
      <p:sp>
        <p:nvSpPr>
          <p:cNvPr id="498" name="Google Shape;498;p15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/>
          </a:p>
        </p:txBody>
      </p:sp>
      <p:sp>
        <p:nvSpPr>
          <p:cNvPr id="499" name="Google Shape;499;p15"/>
          <p:cNvSpPr txBox="1"/>
          <p:nvPr/>
        </p:nvSpPr>
        <p:spPr>
          <a:xfrm>
            <a:off x="666287" y="2492830"/>
            <a:ext cx="7750076" cy="528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scope adjustments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Revised scope received at the end of Week 5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learning and development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Diverse academic backgrounds and experience levels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Frontend integration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Aligning independently developed modules and file structures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Feedback and coordination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Navigating technical clarifications and dependencies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Opportunities for further development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Additional integration testing, refinement and security validation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16"/>
          <p:cNvGrpSpPr/>
          <p:nvPr/>
        </p:nvGrpSpPr>
        <p:grpSpPr>
          <a:xfrm>
            <a:off x="-58636" y="370324"/>
            <a:ext cx="4599961" cy="849164"/>
            <a:chOff x="0" y="-38100"/>
            <a:chExt cx="1211512" cy="223648"/>
          </a:xfrm>
        </p:grpSpPr>
        <p:sp>
          <p:nvSpPr>
            <p:cNvPr id="505" name="Google Shape;505;p16"/>
            <p:cNvSpPr/>
            <p:nvPr/>
          </p:nvSpPr>
          <p:spPr>
            <a:xfrm>
              <a:off x="0" y="0"/>
              <a:ext cx="1211512" cy="185548"/>
            </a:xfrm>
            <a:custGeom>
              <a:rect b="b" l="l" r="r" t="t"/>
              <a:pathLst>
                <a:path extrusionOk="0" h="185548" w="1211512">
                  <a:moveTo>
                    <a:pt x="0" y="0"/>
                  </a:moveTo>
                  <a:lnTo>
                    <a:pt x="1211512" y="0"/>
                  </a:lnTo>
                  <a:lnTo>
                    <a:pt x="1211512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506" name="Google Shape;506;p16"/>
            <p:cNvSpPr txBox="1"/>
            <p:nvPr/>
          </p:nvSpPr>
          <p:spPr>
            <a:xfrm>
              <a:off x="0" y="-38100"/>
              <a:ext cx="1211512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p16"/>
          <p:cNvGrpSpPr/>
          <p:nvPr/>
        </p:nvGrpSpPr>
        <p:grpSpPr>
          <a:xfrm>
            <a:off x="2423844" y="1552578"/>
            <a:ext cx="13017559" cy="6301279"/>
            <a:chOff x="0" y="-38100"/>
            <a:chExt cx="3428493" cy="1659596"/>
          </a:xfrm>
        </p:grpSpPr>
        <p:sp>
          <p:nvSpPr>
            <p:cNvPr id="508" name="Google Shape;508;p16"/>
            <p:cNvSpPr/>
            <p:nvPr/>
          </p:nvSpPr>
          <p:spPr>
            <a:xfrm>
              <a:off x="0" y="0"/>
              <a:ext cx="3428493" cy="1621496"/>
            </a:xfrm>
            <a:custGeom>
              <a:rect b="b" l="l" r="r" t="t"/>
              <a:pathLst>
                <a:path extrusionOk="0" h="1621496" w="3428493">
                  <a:moveTo>
                    <a:pt x="59473" y="0"/>
                  </a:moveTo>
                  <a:lnTo>
                    <a:pt x="3369020" y="0"/>
                  </a:lnTo>
                  <a:cubicBezTo>
                    <a:pt x="3384793" y="0"/>
                    <a:pt x="3399920" y="6266"/>
                    <a:pt x="3411074" y="17419"/>
                  </a:cubicBezTo>
                  <a:cubicBezTo>
                    <a:pt x="3422227" y="28573"/>
                    <a:pt x="3428493" y="43700"/>
                    <a:pt x="3428493" y="59473"/>
                  </a:cubicBezTo>
                  <a:lnTo>
                    <a:pt x="3428493" y="1562023"/>
                  </a:lnTo>
                  <a:cubicBezTo>
                    <a:pt x="3428493" y="1577797"/>
                    <a:pt x="3422227" y="1592924"/>
                    <a:pt x="3411074" y="1604077"/>
                  </a:cubicBezTo>
                  <a:cubicBezTo>
                    <a:pt x="3399920" y="1615230"/>
                    <a:pt x="3384793" y="1621496"/>
                    <a:pt x="3369020" y="1621496"/>
                  </a:cubicBezTo>
                  <a:lnTo>
                    <a:pt x="59473" y="1621496"/>
                  </a:lnTo>
                  <a:cubicBezTo>
                    <a:pt x="43700" y="1621496"/>
                    <a:pt x="28573" y="1615230"/>
                    <a:pt x="17419" y="1604077"/>
                  </a:cubicBezTo>
                  <a:cubicBezTo>
                    <a:pt x="6266" y="1592924"/>
                    <a:pt x="0" y="1577797"/>
                    <a:pt x="0" y="1562023"/>
                  </a:cubicBezTo>
                  <a:lnTo>
                    <a:pt x="0" y="59473"/>
                  </a:lnTo>
                  <a:cubicBezTo>
                    <a:pt x="0" y="43700"/>
                    <a:pt x="6266" y="28573"/>
                    <a:pt x="17419" y="17419"/>
                  </a:cubicBezTo>
                  <a:cubicBezTo>
                    <a:pt x="28573" y="6266"/>
                    <a:pt x="43700" y="0"/>
                    <a:pt x="59473" y="0"/>
                  </a:cubicBezTo>
                  <a:close/>
                </a:path>
              </a:pathLst>
            </a:custGeom>
            <a:solidFill>
              <a:srgbClr val="CCD8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 txBox="1"/>
            <p:nvPr/>
          </p:nvSpPr>
          <p:spPr>
            <a:xfrm>
              <a:off x="0" y="-38100"/>
              <a:ext cx="3428493" cy="1659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0" name="Google Shape;510;p16"/>
          <p:cNvSpPr txBox="1"/>
          <p:nvPr/>
        </p:nvSpPr>
        <p:spPr>
          <a:xfrm>
            <a:off x="228958" y="551959"/>
            <a:ext cx="730258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limitations</a:t>
            </a:r>
            <a:endParaRPr/>
          </a:p>
        </p:txBody>
      </p:sp>
      <p:sp>
        <p:nvSpPr>
          <p:cNvPr id="511" name="Google Shape;511;p16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/>
          </a:p>
        </p:txBody>
      </p:sp>
      <p:sp>
        <p:nvSpPr>
          <p:cNvPr id="512" name="Google Shape;512;p16"/>
          <p:cNvSpPr txBox="1"/>
          <p:nvPr/>
        </p:nvSpPr>
        <p:spPr>
          <a:xfrm>
            <a:off x="3147805" y="2179679"/>
            <a:ext cx="11808525" cy="4803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1163" lvl="1" marL="482326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34"/>
              <a:buFont typeface="Arial"/>
              <a:buChar char="•"/>
            </a:pPr>
            <a:r>
              <a:rPr b="1" i="0" lang="en-US" sz="223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Huddle Up Platform Integration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Full integration with the existing Huddle Up environment has not been completed or verified.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1163" lvl="1" marL="482326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34"/>
              <a:buFont typeface="Arial"/>
              <a:buChar char="•"/>
            </a:pPr>
            <a:r>
              <a:rPr b="1" i="0" lang="en-US" sz="223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Deployment Architecture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3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1163" lvl="1" marL="482326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34"/>
              <a:buFont typeface="Arial"/>
              <a:buChar char="•"/>
            </a:pPr>
            <a:r>
              <a:rPr b="1" i="0" lang="en-US" sz="223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End-to-End Testing</a:t>
            </a:r>
            <a:endParaRPr/>
          </a:p>
          <a:p>
            <a:pPr indent="0" lvl="0" marL="0" marR="0" rtl="0" algn="l">
              <a:lnSpc>
                <a:spcPct val="127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1163" lvl="1" marL="482326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34"/>
              <a:buFont typeface="Arial"/>
              <a:buChar char="•"/>
            </a:pPr>
            <a:r>
              <a:rPr b="1" i="0" lang="en-US" sz="223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Production Readiness</a:t>
            </a:r>
            <a:endParaRPr/>
          </a:p>
          <a:p>
            <a:pPr indent="0" lvl="0" marL="0" marR="0" rtl="0" algn="l">
              <a:lnSpc>
                <a:spcPct val="127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7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3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16"/>
          <p:cNvSpPr txBox="1"/>
          <p:nvPr/>
        </p:nvSpPr>
        <p:spPr>
          <a:xfrm>
            <a:off x="3637082" y="3709089"/>
            <a:ext cx="10887968" cy="700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0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ReadAlert currently operates as a prototype rather than a set of independently deployable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0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microservices.</a:t>
            </a:r>
            <a:endParaRPr/>
          </a:p>
        </p:txBody>
      </p:sp>
      <p:sp>
        <p:nvSpPr>
          <p:cNvPr id="514" name="Google Shape;514;p16"/>
          <p:cNvSpPr txBox="1"/>
          <p:nvPr/>
        </p:nvSpPr>
        <p:spPr>
          <a:xfrm>
            <a:off x="3637082" y="5225639"/>
            <a:ext cx="10008096" cy="34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0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Comprehensive integration, performance and security testing remains outstanding.</a:t>
            </a:r>
            <a:endParaRPr/>
          </a:p>
        </p:txBody>
      </p:sp>
      <p:sp>
        <p:nvSpPr>
          <p:cNvPr id="515" name="Google Shape;515;p16"/>
          <p:cNvSpPr txBox="1"/>
          <p:nvPr/>
        </p:nvSpPr>
        <p:spPr>
          <a:xfrm>
            <a:off x="3637082" y="6393277"/>
            <a:ext cx="11507138" cy="700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0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Further validation, configuration and operational hardening are required before production deployment.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17"/>
          <p:cNvGrpSpPr/>
          <p:nvPr/>
        </p:nvGrpSpPr>
        <p:grpSpPr>
          <a:xfrm>
            <a:off x="-58636" y="370324"/>
            <a:ext cx="7447591" cy="849164"/>
            <a:chOff x="0" y="-38100"/>
            <a:chExt cx="1961505" cy="223648"/>
          </a:xfrm>
        </p:grpSpPr>
        <p:sp>
          <p:nvSpPr>
            <p:cNvPr id="521" name="Google Shape;521;p17"/>
            <p:cNvSpPr/>
            <p:nvPr/>
          </p:nvSpPr>
          <p:spPr>
            <a:xfrm>
              <a:off x="0" y="0"/>
              <a:ext cx="1961505" cy="185548"/>
            </a:xfrm>
            <a:custGeom>
              <a:rect b="b" l="l" r="r" t="t"/>
              <a:pathLst>
                <a:path extrusionOk="0" h="185548" w="1961505">
                  <a:moveTo>
                    <a:pt x="0" y="0"/>
                  </a:moveTo>
                  <a:lnTo>
                    <a:pt x="1961505" y="0"/>
                  </a:lnTo>
                  <a:lnTo>
                    <a:pt x="1961505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522" name="Google Shape;522;p17"/>
            <p:cNvSpPr txBox="1"/>
            <p:nvPr/>
          </p:nvSpPr>
          <p:spPr>
            <a:xfrm>
              <a:off x="0" y="-38100"/>
              <a:ext cx="1961505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" name="Google Shape;523;p17"/>
          <p:cNvSpPr txBox="1"/>
          <p:nvPr/>
        </p:nvSpPr>
        <p:spPr>
          <a:xfrm>
            <a:off x="228958" y="551959"/>
            <a:ext cx="7302582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Outcomes and Handover</a:t>
            </a:r>
            <a:endParaRPr/>
          </a:p>
        </p:txBody>
      </p:sp>
      <p:sp>
        <p:nvSpPr>
          <p:cNvPr id="524" name="Google Shape;524;p17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endParaRPr/>
          </a:p>
        </p:txBody>
      </p:sp>
      <p:grpSp>
        <p:nvGrpSpPr>
          <p:cNvPr id="525" name="Google Shape;525;p17"/>
          <p:cNvGrpSpPr/>
          <p:nvPr/>
        </p:nvGrpSpPr>
        <p:grpSpPr>
          <a:xfrm>
            <a:off x="1204697" y="1763708"/>
            <a:ext cx="6921564" cy="3215629"/>
            <a:chOff x="0" y="-38100"/>
            <a:chExt cx="1822963" cy="846915"/>
          </a:xfrm>
        </p:grpSpPr>
        <p:sp>
          <p:nvSpPr>
            <p:cNvPr id="526" name="Google Shape;526;p17"/>
            <p:cNvSpPr/>
            <p:nvPr/>
          </p:nvSpPr>
          <p:spPr>
            <a:xfrm>
              <a:off x="0" y="0"/>
              <a:ext cx="1822963" cy="808815"/>
            </a:xfrm>
            <a:custGeom>
              <a:rect b="b" l="l" r="r" t="t"/>
              <a:pathLst>
                <a:path extrusionOk="0" h="808815" w="1822963">
                  <a:moveTo>
                    <a:pt x="21252" y="0"/>
                  </a:moveTo>
                  <a:lnTo>
                    <a:pt x="1801711" y="0"/>
                  </a:lnTo>
                  <a:cubicBezTo>
                    <a:pt x="1813448" y="0"/>
                    <a:pt x="1822963" y="9515"/>
                    <a:pt x="1822963" y="21252"/>
                  </a:cubicBezTo>
                  <a:lnTo>
                    <a:pt x="1822963" y="787563"/>
                  </a:lnTo>
                  <a:cubicBezTo>
                    <a:pt x="1822963" y="799300"/>
                    <a:pt x="1813448" y="808815"/>
                    <a:pt x="1801711" y="808815"/>
                  </a:cubicBezTo>
                  <a:lnTo>
                    <a:pt x="21252" y="808815"/>
                  </a:lnTo>
                  <a:cubicBezTo>
                    <a:pt x="9515" y="808815"/>
                    <a:pt x="0" y="799300"/>
                    <a:pt x="0" y="787563"/>
                  </a:cubicBezTo>
                  <a:lnTo>
                    <a:pt x="0" y="21252"/>
                  </a:lnTo>
                  <a:cubicBezTo>
                    <a:pt x="0" y="9515"/>
                    <a:pt x="9515" y="0"/>
                    <a:pt x="21252" y="0"/>
                  </a:cubicBezTo>
                  <a:close/>
                </a:path>
              </a:pathLst>
            </a:custGeom>
            <a:solidFill>
              <a:srgbClr val="3047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7"/>
            <p:cNvSpPr txBox="1"/>
            <p:nvPr/>
          </p:nvSpPr>
          <p:spPr>
            <a:xfrm>
              <a:off x="0" y="-38100"/>
              <a:ext cx="1822963" cy="846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8" name="Google Shape;528;p17"/>
          <p:cNvSpPr txBox="1"/>
          <p:nvPr/>
        </p:nvSpPr>
        <p:spPr>
          <a:xfrm>
            <a:off x="1314803" y="2188458"/>
            <a:ext cx="6638721" cy="246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Delivered Prototype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1ECE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1ECEC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Five integrated functional modules</a:t>
            </a:r>
            <a:endParaRPr/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1ECEC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Shared frontend and consolidated backend</a:t>
            </a:r>
            <a:endParaRPr/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1ECEC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SQL Server and stored procedure integration</a:t>
            </a:r>
            <a:endParaRPr/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1ECEC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F1ECEC"/>
                </a:solidFill>
                <a:latin typeface="Open Sans"/>
                <a:ea typeface="Open Sans"/>
                <a:cs typeface="Open Sans"/>
                <a:sym typeface="Open Sans"/>
              </a:rPr>
              <a:t>Source code and supporting documentation</a:t>
            </a:r>
            <a:endParaRPr/>
          </a:p>
        </p:txBody>
      </p:sp>
      <p:grpSp>
        <p:nvGrpSpPr>
          <p:cNvPr id="529" name="Google Shape;529;p17"/>
          <p:cNvGrpSpPr/>
          <p:nvPr/>
        </p:nvGrpSpPr>
        <p:grpSpPr>
          <a:xfrm>
            <a:off x="9632316" y="1763708"/>
            <a:ext cx="6999851" cy="3215629"/>
            <a:chOff x="0" y="-38100"/>
            <a:chExt cx="1843582" cy="846915"/>
          </a:xfrm>
        </p:grpSpPr>
        <p:sp>
          <p:nvSpPr>
            <p:cNvPr id="530" name="Google Shape;530;p17"/>
            <p:cNvSpPr/>
            <p:nvPr/>
          </p:nvSpPr>
          <p:spPr>
            <a:xfrm>
              <a:off x="0" y="0"/>
              <a:ext cx="1843582" cy="808815"/>
            </a:xfrm>
            <a:custGeom>
              <a:rect b="b" l="l" r="r" t="t"/>
              <a:pathLst>
                <a:path extrusionOk="0" h="808815" w="1843582">
                  <a:moveTo>
                    <a:pt x="21014" y="0"/>
                  </a:moveTo>
                  <a:lnTo>
                    <a:pt x="1822568" y="0"/>
                  </a:lnTo>
                  <a:cubicBezTo>
                    <a:pt x="1834174" y="0"/>
                    <a:pt x="1843582" y="9408"/>
                    <a:pt x="1843582" y="21014"/>
                  </a:cubicBezTo>
                  <a:lnTo>
                    <a:pt x="1843582" y="787801"/>
                  </a:lnTo>
                  <a:cubicBezTo>
                    <a:pt x="1843582" y="799406"/>
                    <a:pt x="1834174" y="808815"/>
                    <a:pt x="1822568" y="808815"/>
                  </a:cubicBezTo>
                  <a:lnTo>
                    <a:pt x="21014" y="808815"/>
                  </a:lnTo>
                  <a:cubicBezTo>
                    <a:pt x="9408" y="808815"/>
                    <a:pt x="0" y="799406"/>
                    <a:pt x="0" y="787801"/>
                  </a:cubicBezTo>
                  <a:lnTo>
                    <a:pt x="0" y="21014"/>
                  </a:lnTo>
                  <a:cubicBezTo>
                    <a:pt x="0" y="9408"/>
                    <a:pt x="9408" y="0"/>
                    <a:pt x="21014" y="0"/>
                  </a:cubicBezTo>
                  <a:close/>
                </a:path>
              </a:pathLst>
            </a:custGeom>
            <a:solidFill>
              <a:srgbClr val="9BB2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7"/>
            <p:cNvSpPr txBox="1"/>
            <p:nvPr/>
          </p:nvSpPr>
          <p:spPr>
            <a:xfrm>
              <a:off x="0" y="-38100"/>
              <a:ext cx="1843582" cy="846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2" name="Google Shape;532;p17"/>
          <p:cNvSpPr txBox="1"/>
          <p:nvPr/>
        </p:nvSpPr>
        <p:spPr>
          <a:xfrm>
            <a:off x="9849242" y="2188458"/>
            <a:ext cx="6567339" cy="202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Future Development</a:t>
            </a:r>
            <a:endParaRPr/>
          </a:p>
          <a:p>
            <a:pPr indent="0" lvl="0" marL="0" marR="0" rtl="0" algn="l">
              <a:lnSpc>
                <a:spcPct val="1288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Independently deployable microservices</a:t>
            </a:r>
            <a:endParaRPr/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Complete Huddle Up host integration</a:t>
            </a:r>
            <a:endParaRPr/>
          </a:p>
          <a:p>
            <a:pPr indent="-248284" lvl="1" marL="496567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Further production hardening and validation</a:t>
            </a:r>
            <a:endParaRPr/>
          </a:p>
        </p:txBody>
      </p:sp>
      <p:grpSp>
        <p:nvGrpSpPr>
          <p:cNvPr id="533" name="Google Shape;533;p17"/>
          <p:cNvGrpSpPr/>
          <p:nvPr/>
        </p:nvGrpSpPr>
        <p:grpSpPr>
          <a:xfrm>
            <a:off x="5042663" y="5520476"/>
            <a:ext cx="7897303" cy="3951917"/>
            <a:chOff x="0" y="-38100"/>
            <a:chExt cx="2079948" cy="1040834"/>
          </a:xfrm>
        </p:grpSpPr>
        <p:sp>
          <p:nvSpPr>
            <p:cNvPr id="534" name="Google Shape;534;p17"/>
            <p:cNvSpPr/>
            <p:nvPr/>
          </p:nvSpPr>
          <p:spPr>
            <a:xfrm>
              <a:off x="0" y="0"/>
              <a:ext cx="2079948" cy="1002734"/>
            </a:xfrm>
            <a:custGeom>
              <a:rect b="b" l="l" r="r" t="t"/>
              <a:pathLst>
                <a:path extrusionOk="0" h="1002734" w="2079948">
                  <a:moveTo>
                    <a:pt x="39213" y="0"/>
                  </a:moveTo>
                  <a:lnTo>
                    <a:pt x="2040735" y="0"/>
                  </a:lnTo>
                  <a:cubicBezTo>
                    <a:pt x="2062392" y="0"/>
                    <a:pt x="2079948" y="17556"/>
                    <a:pt x="2079948" y="39213"/>
                  </a:cubicBezTo>
                  <a:lnTo>
                    <a:pt x="2079948" y="963521"/>
                  </a:lnTo>
                  <a:cubicBezTo>
                    <a:pt x="2079948" y="973921"/>
                    <a:pt x="2075817" y="983895"/>
                    <a:pt x="2068463" y="991249"/>
                  </a:cubicBezTo>
                  <a:cubicBezTo>
                    <a:pt x="2061109" y="998603"/>
                    <a:pt x="2051135" y="1002734"/>
                    <a:pt x="2040735" y="1002734"/>
                  </a:cubicBezTo>
                  <a:lnTo>
                    <a:pt x="39213" y="1002734"/>
                  </a:lnTo>
                  <a:cubicBezTo>
                    <a:pt x="17556" y="1002734"/>
                    <a:pt x="0" y="985178"/>
                    <a:pt x="0" y="963521"/>
                  </a:cubicBezTo>
                  <a:lnTo>
                    <a:pt x="0" y="39213"/>
                  </a:lnTo>
                  <a:cubicBezTo>
                    <a:pt x="0" y="17556"/>
                    <a:pt x="17556" y="0"/>
                    <a:pt x="39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7"/>
            <p:cNvSpPr txBox="1"/>
            <p:nvPr/>
          </p:nvSpPr>
          <p:spPr>
            <a:xfrm>
              <a:off x="0" y="-38100"/>
              <a:ext cx="2079948" cy="1040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6" name="Google Shape;536;p17"/>
          <p:cNvSpPr txBox="1"/>
          <p:nvPr/>
        </p:nvSpPr>
        <p:spPr>
          <a:xfrm>
            <a:off x="5895695" y="5712762"/>
            <a:ext cx="6496610" cy="3491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7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Documentation Package</a:t>
            </a:r>
            <a:endParaRPr/>
          </a:p>
          <a:p>
            <a:pPr indent="0" lvl="0" marL="0" marR="0" rtl="0" algn="just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7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8990" lvl="1" marL="497979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306"/>
              <a:buFont typeface="Arial"/>
              <a:buChar char="•"/>
            </a:pPr>
            <a:r>
              <a:rPr b="0" i="0" lang="en-US" sz="2306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Setup &amp; Running Guide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  Prerequisites, configuration and execution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8990" lvl="1" marL="497979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306"/>
              <a:buFont typeface="Arial"/>
              <a:buChar char="•"/>
            </a:pPr>
            <a:r>
              <a:rPr b="0" i="0" lang="en-US" sz="2306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Technical Handover Guide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   Architecture, API routes and dependencies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4" u="none" cap="none" strike="noStrike">
              <a:solidFill>
                <a:srgbClr val="36473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48990" lvl="1" marL="497979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364735"/>
              </a:buClr>
              <a:buSzPts val="2306"/>
              <a:buFont typeface="Arial"/>
              <a:buChar char="•"/>
            </a:pPr>
            <a:r>
              <a:rPr b="0" i="0" lang="en-US" sz="2306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Testing &amp; Completion Summary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4" u="none" cap="none" strike="noStrike">
                <a:solidFill>
                  <a:srgbClr val="364735"/>
                </a:solidFill>
                <a:latin typeface="Open Sans"/>
                <a:ea typeface="Open Sans"/>
                <a:cs typeface="Open Sans"/>
                <a:sym typeface="Open Sans"/>
              </a:rPr>
              <a:t>          Validation results and known limitations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18"/>
          <p:cNvGrpSpPr/>
          <p:nvPr/>
        </p:nvGrpSpPr>
        <p:grpSpPr>
          <a:xfrm>
            <a:off x="-58636" y="370324"/>
            <a:ext cx="2586300" cy="849164"/>
            <a:chOff x="0" y="-38100"/>
            <a:chExt cx="681166" cy="223648"/>
          </a:xfrm>
        </p:grpSpPr>
        <p:sp>
          <p:nvSpPr>
            <p:cNvPr id="542" name="Google Shape;542;p18"/>
            <p:cNvSpPr/>
            <p:nvPr/>
          </p:nvSpPr>
          <p:spPr>
            <a:xfrm>
              <a:off x="0" y="0"/>
              <a:ext cx="681166" cy="185548"/>
            </a:xfrm>
            <a:custGeom>
              <a:rect b="b" l="l" r="r" t="t"/>
              <a:pathLst>
                <a:path extrusionOk="0" h="185548" w="681166">
                  <a:moveTo>
                    <a:pt x="0" y="0"/>
                  </a:moveTo>
                  <a:lnTo>
                    <a:pt x="681166" y="0"/>
                  </a:lnTo>
                  <a:lnTo>
                    <a:pt x="681166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543" name="Google Shape;543;p18"/>
            <p:cNvSpPr txBox="1"/>
            <p:nvPr/>
          </p:nvSpPr>
          <p:spPr>
            <a:xfrm>
              <a:off x="0" y="-38100"/>
              <a:ext cx="681166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" name="Google Shape;544;p18"/>
          <p:cNvSpPr/>
          <p:nvPr/>
        </p:nvSpPr>
        <p:spPr>
          <a:xfrm>
            <a:off x="2527664" y="2114454"/>
            <a:ext cx="13634658" cy="6233477"/>
          </a:xfrm>
          <a:custGeom>
            <a:rect b="b" l="l" r="r" t="t"/>
            <a:pathLst>
              <a:path extrusionOk="0" h="6233477" w="13634658">
                <a:moveTo>
                  <a:pt x="0" y="0"/>
                </a:moveTo>
                <a:lnTo>
                  <a:pt x="13634659" y="0"/>
                </a:lnTo>
                <a:lnTo>
                  <a:pt x="13634659" y="6233477"/>
                </a:lnTo>
                <a:lnTo>
                  <a:pt x="0" y="6233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5" name="Google Shape;545;p18"/>
          <p:cNvSpPr txBox="1"/>
          <p:nvPr/>
        </p:nvSpPr>
        <p:spPr>
          <a:xfrm>
            <a:off x="228958" y="551959"/>
            <a:ext cx="2298707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/>
          </a:p>
        </p:txBody>
      </p:sp>
      <p:sp>
        <p:nvSpPr>
          <p:cNvPr id="546" name="Google Shape;546;p18"/>
          <p:cNvSpPr txBox="1"/>
          <p:nvPr/>
        </p:nvSpPr>
        <p:spPr>
          <a:xfrm>
            <a:off x="16632167" y="372110"/>
            <a:ext cx="125426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CEC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19"/>
          <p:cNvGrpSpPr/>
          <p:nvPr/>
        </p:nvGrpSpPr>
        <p:grpSpPr>
          <a:xfrm>
            <a:off x="2746963" y="8696394"/>
            <a:ext cx="15541037" cy="849164"/>
            <a:chOff x="0" y="-38100"/>
            <a:chExt cx="4093113" cy="223648"/>
          </a:xfrm>
        </p:grpSpPr>
        <p:sp>
          <p:nvSpPr>
            <p:cNvPr id="552" name="Google Shape;552;p19"/>
            <p:cNvSpPr/>
            <p:nvPr/>
          </p:nvSpPr>
          <p:spPr>
            <a:xfrm>
              <a:off x="0" y="0"/>
              <a:ext cx="4093113" cy="185548"/>
            </a:xfrm>
            <a:custGeom>
              <a:rect b="b" l="l" r="r" t="t"/>
              <a:pathLst>
                <a:path extrusionOk="0"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553" name="Google Shape;553;p19"/>
            <p:cNvSpPr txBox="1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4" name="Google Shape;554;p19"/>
          <p:cNvSpPr txBox="1"/>
          <p:nvPr/>
        </p:nvSpPr>
        <p:spPr>
          <a:xfrm>
            <a:off x="4387001" y="3066064"/>
            <a:ext cx="9513998" cy="2254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0" u="none" cap="none" strike="noStrike">
                <a:solidFill>
                  <a:srgbClr val="364735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grpSp>
        <p:nvGrpSpPr>
          <p:cNvPr id="555" name="Google Shape;555;p19"/>
          <p:cNvGrpSpPr/>
          <p:nvPr/>
        </p:nvGrpSpPr>
        <p:grpSpPr>
          <a:xfrm>
            <a:off x="0" y="8696394"/>
            <a:ext cx="1822452" cy="849164"/>
            <a:chOff x="0" y="-38100"/>
            <a:chExt cx="479987" cy="223648"/>
          </a:xfrm>
        </p:grpSpPr>
        <p:sp>
          <p:nvSpPr>
            <p:cNvPr id="556" name="Google Shape;556;p19"/>
            <p:cNvSpPr/>
            <p:nvPr/>
          </p:nvSpPr>
          <p:spPr>
            <a:xfrm>
              <a:off x="0" y="0"/>
              <a:ext cx="479987" cy="185548"/>
            </a:xfrm>
            <a:custGeom>
              <a:rect b="b" l="l" r="r" t="t"/>
              <a:pathLst>
                <a:path extrusionOk="0"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557" name="Google Shape;557;p19"/>
            <p:cNvSpPr txBox="1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" name="Google Shape;558;p19"/>
          <p:cNvGrpSpPr/>
          <p:nvPr/>
        </p:nvGrpSpPr>
        <p:grpSpPr>
          <a:xfrm>
            <a:off x="-58636" y="370324"/>
            <a:ext cx="5566516" cy="849164"/>
            <a:chOff x="0" y="-38100"/>
            <a:chExt cx="1466078" cy="223648"/>
          </a:xfrm>
        </p:grpSpPr>
        <p:sp>
          <p:nvSpPr>
            <p:cNvPr id="559" name="Google Shape;559;p19"/>
            <p:cNvSpPr/>
            <p:nvPr/>
          </p:nvSpPr>
          <p:spPr>
            <a:xfrm>
              <a:off x="0" y="0"/>
              <a:ext cx="1466078" cy="185548"/>
            </a:xfrm>
            <a:custGeom>
              <a:rect b="b" l="l" r="r" t="t"/>
              <a:pathLst>
                <a:path extrusionOk="0" h="185548" w="1466078">
                  <a:moveTo>
                    <a:pt x="0" y="0"/>
                  </a:moveTo>
                  <a:lnTo>
                    <a:pt x="1466078" y="0"/>
                  </a:lnTo>
                  <a:lnTo>
                    <a:pt x="1466078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  <a:ln>
              <a:noFill/>
            </a:ln>
          </p:spPr>
        </p:sp>
        <p:sp>
          <p:nvSpPr>
            <p:cNvPr id="560" name="Google Shape;560;p19"/>
            <p:cNvSpPr txBox="1"/>
            <p:nvPr/>
          </p:nvSpPr>
          <p:spPr>
            <a:xfrm>
              <a:off x="0" y="-38100"/>
              <a:ext cx="1466078" cy="223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1" name="Google Shape;561;p19"/>
          <p:cNvSpPr txBox="1"/>
          <p:nvPr/>
        </p:nvSpPr>
        <p:spPr>
          <a:xfrm>
            <a:off x="1028700" y="569422"/>
            <a:ext cx="4380875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18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